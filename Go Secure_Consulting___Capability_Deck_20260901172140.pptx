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71" r:id="rId2"/>
    <p:sldId id="272" r:id="rId3"/>
    <p:sldId id="279" r:id="rId4"/>
    <p:sldId id="280" r:id="rId5"/>
    <p:sldId id="281" r:id="rId6"/>
    <p:sldId id="282" r:id="rId7"/>
    <p:sldId id="283" r:id="rId8"/>
    <p:sldId id="284" r:id="rId9"/>
    <p:sldId id="277" r:id="rId1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F94C4F-4AE0-4054-8479-C604A4CA2BE4}" v="3" dt="2026-09-06T10:23:48.4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athavam Consulting" userId="6ee6a40a0106b3f1" providerId="LiveId" clId="{2D0F2F04-067F-4C37-B828-7D8EE8DC6936}"/>
    <pc:docChg chg="custSel addSld delSld modSld sldOrd">
      <pc:chgData name="Maathavam Consulting" userId="6ee6a40a0106b3f1" providerId="LiveId" clId="{2D0F2F04-067F-4C37-B828-7D8EE8DC6936}" dt="2026-09-06T10:26:46.793" v="200" actId="20577"/>
      <pc:docMkLst>
        <pc:docMk/>
      </pc:docMkLst>
      <pc:sldChg chg="del">
        <pc:chgData name="Maathavam Consulting" userId="6ee6a40a0106b3f1" providerId="LiveId" clId="{2D0F2F04-067F-4C37-B828-7D8EE8DC6936}" dt="2026-09-06T10:17:10.713" v="34"/>
        <pc:sldMkLst>
          <pc:docMk/>
          <pc:sldMk cId="0" sldId="256"/>
        </pc:sldMkLst>
      </pc:sldChg>
      <pc:sldChg chg="del">
        <pc:chgData name="Maathavam Consulting" userId="6ee6a40a0106b3f1" providerId="LiveId" clId="{2D0F2F04-067F-4C37-B828-7D8EE8DC6936}" dt="2026-09-06T10:17:11.704" v="36"/>
        <pc:sldMkLst>
          <pc:docMk/>
          <pc:sldMk cId="0" sldId="257"/>
        </pc:sldMkLst>
      </pc:sldChg>
      <pc:sldChg chg="del">
        <pc:chgData name="Maathavam Consulting" userId="6ee6a40a0106b3f1" providerId="LiveId" clId="{2D0F2F04-067F-4C37-B828-7D8EE8DC6936}" dt="2026-09-06T10:17:12.562" v="38"/>
        <pc:sldMkLst>
          <pc:docMk/>
          <pc:sldMk cId="0" sldId="258"/>
        </pc:sldMkLst>
      </pc:sldChg>
      <pc:sldChg chg="modSp add del mod">
        <pc:chgData name="Maathavam Consulting" userId="6ee6a40a0106b3f1" providerId="LiveId" clId="{2D0F2F04-067F-4C37-B828-7D8EE8DC6936}" dt="2026-09-06T10:17:13.444" v="40"/>
        <pc:sldMkLst>
          <pc:docMk/>
          <pc:sldMk cId="1662306937" sldId="263"/>
        </pc:sldMkLst>
      </pc:sldChg>
      <pc:sldChg chg="add del">
        <pc:chgData name="Maathavam Consulting" userId="6ee6a40a0106b3f1" providerId="LiveId" clId="{2D0F2F04-067F-4C37-B828-7D8EE8DC6936}" dt="2026-09-06T10:25:10.932" v="169"/>
        <pc:sldMkLst>
          <pc:docMk/>
          <pc:sldMk cId="1260854062" sldId="265"/>
        </pc:sldMkLst>
      </pc:sldChg>
      <pc:sldChg chg="modSp add del mod">
        <pc:chgData name="Maathavam Consulting" userId="6ee6a40a0106b3f1" providerId="LiveId" clId="{2D0F2F04-067F-4C37-B828-7D8EE8DC6936}" dt="2026-09-06T10:17:14.310" v="42"/>
        <pc:sldMkLst>
          <pc:docMk/>
          <pc:sldMk cId="1153591610" sldId="267"/>
        </pc:sldMkLst>
      </pc:sldChg>
      <pc:sldChg chg="add del">
        <pc:chgData name="Maathavam Consulting" userId="6ee6a40a0106b3f1" providerId="LiveId" clId="{2D0F2F04-067F-4C37-B828-7D8EE8DC6936}" dt="2026-09-06T10:17:15.160" v="44"/>
        <pc:sldMkLst>
          <pc:docMk/>
          <pc:sldMk cId="3647560661" sldId="268"/>
        </pc:sldMkLst>
      </pc:sldChg>
      <pc:sldChg chg="addSp modSp add del mod">
        <pc:chgData name="Maathavam Consulting" userId="6ee6a40a0106b3f1" providerId="LiveId" clId="{2D0F2F04-067F-4C37-B828-7D8EE8DC6936}" dt="2026-09-06T10:20:34.653" v="159"/>
        <pc:sldMkLst>
          <pc:docMk/>
          <pc:sldMk cId="1762418764" sldId="269"/>
        </pc:sldMkLst>
        <pc:spChg chg="mod">
          <ac:chgData name="Maathavam Consulting" userId="6ee6a40a0106b3f1" providerId="LiveId" clId="{2D0F2F04-067F-4C37-B828-7D8EE8DC6936}" dt="2026-09-06T10:19:40.236" v="98"/>
          <ac:spMkLst>
            <pc:docMk/>
            <pc:sldMk cId="1762418764" sldId="269"/>
            <ac:spMk id="12" creationId="{00000000-0000-0000-0000-000000000000}"/>
          </ac:spMkLst>
        </pc:spChg>
        <pc:spChg chg="mod">
          <ac:chgData name="Maathavam Consulting" userId="6ee6a40a0106b3f1" providerId="LiveId" clId="{2D0F2F04-067F-4C37-B828-7D8EE8DC6936}" dt="2026-09-06T10:19:40.240" v="99"/>
          <ac:spMkLst>
            <pc:docMk/>
            <pc:sldMk cId="1762418764" sldId="269"/>
            <ac:spMk id="13" creationId="{00000000-0000-0000-0000-000000000000}"/>
          </ac:spMkLst>
        </pc:spChg>
        <pc:spChg chg="mod">
          <ac:chgData name="Maathavam Consulting" userId="6ee6a40a0106b3f1" providerId="LiveId" clId="{2D0F2F04-067F-4C37-B828-7D8EE8DC6936}" dt="2026-09-06T10:19:40.240" v="100"/>
          <ac:spMkLst>
            <pc:docMk/>
            <pc:sldMk cId="1762418764" sldId="269"/>
            <ac:spMk id="14" creationId="{00000000-0000-0000-0000-000000000000}"/>
          </ac:spMkLst>
        </pc:spChg>
        <pc:spChg chg="mod">
          <ac:chgData name="Maathavam Consulting" userId="6ee6a40a0106b3f1" providerId="LiveId" clId="{2D0F2F04-067F-4C37-B828-7D8EE8DC6936}" dt="2026-09-06T10:19:40.241" v="101"/>
          <ac:spMkLst>
            <pc:docMk/>
            <pc:sldMk cId="1762418764" sldId="269"/>
            <ac:spMk id="15" creationId="{00000000-0000-0000-0000-000000000000}"/>
          </ac:spMkLst>
        </pc:spChg>
        <pc:spChg chg="mod">
          <ac:chgData name="Maathavam Consulting" userId="6ee6a40a0106b3f1" providerId="LiveId" clId="{2D0F2F04-067F-4C37-B828-7D8EE8DC6936}" dt="2026-09-06T10:19:40.241" v="102"/>
          <ac:spMkLst>
            <pc:docMk/>
            <pc:sldMk cId="1762418764" sldId="269"/>
            <ac:spMk id="16" creationId="{00000000-0000-0000-0000-000000000000}"/>
          </ac:spMkLst>
        </pc:spChg>
        <pc:spChg chg="mod">
          <ac:chgData name="Maathavam Consulting" userId="6ee6a40a0106b3f1" providerId="LiveId" clId="{2D0F2F04-067F-4C37-B828-7D8EE8DC6936}" dt="2026-09-06T10:19:40.242" v="103"/>
          <ac:spMkLst>
            <pc:docMk/>
            <pc:sldMk cId="1762418764" sldId="269"/>
            <ac:spMk id="17" creationId="{00000000-0000-0000-0000-000000000000}"/>
          </ac:spMkLst>
        </pc:spChg>
        <pc:spChg chg="mod">
          <ac:chgData name="Maathavam Consulting" userId="6ee6a40a0106b3f1" providerId="LiveId" clId="{2D0F2F04-067F-4C37-B828-7D8EE8DC6936}" dt="2026-09-06T10:19:40.242" v="104"/>
          <ac:spMkLst>
            <pc:docMk/>
            <pc:sldMk cId="1762418764" sldId="269"/>
            <ac:spMk id="18" creationId="{00000000-0000-0000-0000-000000000000}"/>
          </ac:spMkLst>
        </pc:spChg>
        <pc:spChg chg="mod">
          <ac:chgData name="Maathavam Consulting" userId="6ee6a40a0106b3f1" providerId="LiveId" clId="{2D0F2F04-067F-4C37-B828-7D8EE8DC6936}" dt="2026-09-06T10:19:40.242" v="105"/>
          <ac:spMkLst>
            <pc:docMk/>
            <pc:sldMk cId="1762418764" sldId="269"/>
            <ac:spMk id="19" creationId="{00000000-0000-0000-0000-000000000000}"/>
          </ac:spMkLst>
        </pc:spChg>
        <pc:spChg chg="mod">
          <ac:chgData name="Maathavam Consulting" userId="6ee6a40a0106b3f1" providerId="LiveId" clId="{2D0F2F04-067F-4C37-B828-7D8EE8DC6936}" dt="2026-09-06T10:19:40.242" v="106"/>
          <ac:spMkLst>
            <pc:docMk/>
            <pc:sldMk cId="1762418764" sldId="269"/>
            <ac:spMk id="20" creationId="{00000000-0000-0000-0000-000000000000}"/>
          </ac:spMkLst>
        </pc:spChg>
        <pc:spChg chg="mod">
          <ac:chgData name="Maathavam Consulting" userId="6ee6a40a0106b3f1" providerId="LiveId" clId="{2D0F2F04-067F-4C37-B828-7D8EE8DC6936}" dt="2026-09-06T10:19:40.242" v="107"/>
          <ac:spMkLst>
            <pc:docMk/>
            <pc:sldMk cId="1762418764" sldId="269"/>
            <ac:spMk id="21" creationId="{00000000-0000-0000-0000-000000000000}"/>
          </ac:spMkLst>
        </pc:spChg>
        <pc:spChg chg="mod">
          <ac:chgData name="Maathavam Consulting" userId="6ee6a40a0106b3f1" providerId="LiveId" clId="{2D0F2F04-067F-4C37-B828-7D8EE8DC6936}" dt="2026-09-06T10:19:40.242" v="108"/>
          <ac:spMkLst>
            <pc:docMk/>
            <pc:sldMk cId="1762418764" sldId="269"/>
            <ac:spMk id="22" creationId="{00000000-0000-0000-0000-000000000000}"/>
          </ac:spMkLst>
        </pc:spChg>
        <pc:spChg chg="mod">
          <ac:chgData name="Maathavam Consulting" userId="6ee6a40a0106b3f1" providerId="LiveId" clId="{2D0F2F04-067F-4C37-B828-7D8EE8DC6936}" dt="2026-09-06T10:19:40.242" v="109"/>
          <ac:spMkLst>
            <pc:docMk/>
            <pc:sldMk cId="1762418764" sldId="269"/>
            <ac:spMk id="23" creationId="{00000000-0000-0000-0000-000000000000}"/>
          </ac:spMkLst>
        </pc:spChg>
        <pc:spChg chg="mod">
          <ac:chgData name="Maathavam Consulting" userId="6ee6a40a0106b3f1" providerId="LiveId" clId="{2D0F2F04-067F-4C37-B828-7D8EE8DC6936}" dt="2026-09-06T10:19:40.242" v="110"/>
          <ac:spMkLst>
            <pc:docMk/>
            <pc:sldMk cId="1762418764" sldId="269"/>
            <ac:spMk id="24" creationId="{00000000-0000-0000-0000-000000000000}"/>
          </ac:spMkLst>
        </pc:spChg>
        <pc:spChg chg="mod">
          <ac:chgData name="Maathavam Consulting" userId="6ee6a40a0106b3f1" providerId="LiveId" clId="{2D0F2F04-067F-4C37-B828-7D8EE8DC6936}" dt="2026-09-06T10:19:40.242" v="111"/>
          <ac:spMkLst>
            <pc:docMk/>
            <pc:sldMk cId="1762418764" sldId="269"/>
            <ac:spMk id="25" creationId="{00000000-0000-0000-0000-000000000000}"/>
          </ac:spMkLst>
        </pc:spChg>
        <pc:spChg chg="mod">
          <ac:chgData name="Maathavam Consulting" userId="6ee6a40a0106b3f1" providerId="LiveId" clId="{2D0F2F04-067F-4C37-B828-7D8EE8DC6936}" dt="2026-09-06T10:19:40.242" v="112"/>
          <ac:spMkLst>
            <pc:docMk/>
            <pc:sldMk cId="1762418764" sldId="269"/>
            <ac:spMk id="26" creationId="{00000000-0000-0000-0000-000000000000}"/>
          </ac:spMkLst>
        </pc:spChg>
        <pc:spChg chg="mod">
          <ac:chgData name="Maathavam Consulting" userId="6ee6a40a0106b3f1" providerId="LiveId" clId="{2D0F2F04-067F-4C37-B828-7D8EE8DC6936}" dt="2026-09-06T10:19:40.242" v="113"/>
          <ac:spMkLst>
            <pc:docMk/>
            <pc:sldMk cId="1762418764" sldId="269"/>
            <ac:spMk id="27" creationId="{00000000-0000-0000-0000-000000000000}"/>
          </ac:spMkLst>
        </pc:spChg>
        <pc:spChg chg="add mod">
          <ac:chgData name="Maathavam Consulting" userId="6ee6a40a0106b3f1" providerId="LiveId" clId="{2D0F2F04-067F-4C37-B828-7D8EE8DC6936}" dt="2026-09-06T10:20:26.155" v="117"/>
          <ac:spMkLst>
            <pc:docMk/>
            <pc:sldMk cId="1762418764" sldId="269"/>
            <ac:spMk id="30" creationId="{7C5E48D3-FE59-4604-BEA4-7998A82F2723}"/>
          </ac:spMkLst>
        </pc:spChg>
        <pc:spChg chg="add mod">
          <ac:chgData name="Maathavam Consulting" userId="6ee6a40a0106b3f1" providerId="LiveId" clId="{2D0F2F04-067F-4C37-B828-7D8EE8DC6936}" dt="2026-09-06T10:20:26.163" v="121"/>
          <ac:spMkLst>
            <pc:docMk/>
            <pc:sldMk cId="1762418764" sldId="269"/>
            <ac:spMk id="31" creationId="{4C648C46-70D3-49B3-869A-404097D8DB2C}"/>
          </ac:spMkLst>
        </pc:spChg>
        <pc:spChg chg="add mod">
          <ac:chgData name="Maathavam Consulting" userId="6ee6a40a0106b3f1" providerId="LiveId" clId="{2D0F2F04-067F-4C37-B828-7D8EE8DC6936}" dt="2026-09-06T10:20:26.177" v="130"/>
          <ac:spMkLst>
            <pc:docMk/>
            <pc:sldMk cId="1762418764" sldId="269"/>
            <ac:spMk id="32" creationId="{82EA7D30-51B1-4218-B25C-9028FB04D1D8}"/>
          </ac:spMkLst>
        </pc:spChg>
        <pc:spChg chg="add mod">
          <ac:chgData name="Maathavam Consulting" userId="6ee6a40a0106b3f1" providerId="LiveId" clId="{2D0F2F04-067F-4C37-B828-7D8EE8DC6936}" dt="2026-09-06T10:20:26.193" v="139"/>
          <ac:spMkLst>
            <pc:docMk/>
            <pc:sldMk cId="1762418764" sldId="269"/>
            <ac:spMk id="33" creationId="{79D2C46A-DF08-4EF0-9451-2FFFD6DE9AB7}"/>
          </ac:spMkLst>
        </pc:spChg>
        <pc:spChg chg="add mod">
          <ac:chgData name="Maathavam Consulting" userId="6ee6a40a0106b3f1" providerId="LiveId" clId="{2D0F2F04-067F-4C37-B828-7D8EE8DC6936}" dt="2026-09-06T10:20:26.210" v="148"/>
          <ac:spMkLst>
            <pc:docMk/>
            <pc:sldMk cId="1762418764" sldId="269"/>
            <ac:spMk id="34" creationId="{CCB71532-C66F-4AE9-AADB-BA6A401150DB}"/>
          </ac:spMkLst>
        </pc:spChg>
        <pc:spChg chg="add mod">
          <ac:chgData name="Maathavam Consulting" userId="6ee6a40a0106b3f1" providerId="LiveId" clId="{2D0F2F04-067F-4C37-B828-7D8EE8DC6936}" dt="2026-09-06T10:20:26.210" v="157"/>
          <ac:spMkLst>
            <pc:docMk/>
            <pc:sldMk cId="1762418764" sldId="269"/>
            <ac:spMk id="35" creationId="{026F8ABB-1C0A-4D8C-8694-3B1CA6E88DA3}"/>
          </ac:spMkLst>
        </pc:spChg>
        <pc:picChg chg="mod">
          <ac:chgData name="Maathavam Consulting" userId="6ee6a40a0106b3f1" providerId="LiveId" clId="{2D0F2F04-067F-4C37-B828-7D8EE8DC6936}" dt="2026-09-06T10:19:40.236" v="91"/>
          <ac:picMkLst>
            <pc:docMk/>
            <pc:sldMk cId="1762418764" sldId="269"/>
            <ac:picMk id="2" creationId="{00000000-0000-0000-0000-000000000000}"/>
          </ac:picMkLst>
        </pc:picChg>
        <pc:picChg chg="mod">
          <ac:chgData name="Maathavam Consulting" userId="6ee6a40a0106b3f1" providerId="LiveId" clId="{2D0F2F04-067F-4C37-B828-7D8EE8DC6936}" dt="2026-09-06T10:19:40.236" v="93"/>
          <ac:picMkLst>
            <pc:docMk/>
            <pc:sldMk cId="1762418764" sldId="269"/>
            <ac:picMk id="3" creationId="{00000000-0000-0000-0000-000000000000}"/>
          </ac:picMkLst>
        </pc:picChg>
        <pc:picChg chg="mod">
          <ac:chgData name="Maathavam Consulting" userId="6ee6a40a0106b3f1" providerId="LiveId" clId="{2D0F2F04-067F-4C37-B828-7D8EE8DC6936}" dt="2026-09-06T10:19:40.236" v="95"/>
          <ac:picMkLst>
            <pc:docMk/>
            <pc:sldMk cId="1762418764" sldId="269"/>
            <ac:picMk id="4" creationId="{00000000-0000-0000-0000-000000000000}"/>
          </ac:picMkLst>
        </pc:picChg>
        <pc:picChg chg="mod">
          <ac:chgData name="Maathavam Consulting" userId="6ee6a40a0106b3f1" providerId="LiveId" clId="{2D0F2F04-067F-4C37-B828-7D8EE8DC6936}" dt="2026-09-06T10:19:40.236" v="97"/>
          <ac:picMkLst>
            <pc:docMk/>
            <pc:sldMk cId="1762418764" sldId="269"/>
            <ac:picMk id="5" creationId="{00000000-0000-0000-0000-000000000000}"/>
          </ac:picMkLst>
        </pc:picChg>
      </pc:sldChg>
      <pc:sldChg chg="add del">
        <pc:chgData name="Maathavam Consulting" userId="6ee6a40a0106b3f1" providerId="LiveId" clId="{2D0F2F04-067F-4C37-B828-7D8EE8DC6936}" dt="2026-09-06T10:17:16.024" v="46"/>
        <pc:sldMkLst>
          <pc:docMk/>
          <pc:sldMk cId="650602981" sldId="270"/>
        </pc:sldMkLst>
      </pc:sldChg>
      <pc:sldChg chg="modSp add mod">
        <pc:chgData name="Maathavam Consulting" userId="6ee6a40a0106b3f1" providerId="LiveId" clId="{2D0F2F04-067F-4C37-B828-7D8EE8DC6936}" dt="2026-09-06T10:26:46.793" v="200" actId="20577"/>
        <pc:sldMkLst>
          <pc:docMk/>
          <pc:sldMk cId="1632951453" sldId="271"/>
        </pc:sldMkLst>
        <pc:spChg chg="mod">
          <ac:chgData name="Maathavam Consulting" userId="6ee6a40a0106b3f1" providerId="LiveId" clId="{2D0F2F04-067F-4C37-B828-7D8EE8DC6936}" dt="2026-09-06T10:18:21.921" v="49" actId="20577"/>
          <ac:spMkLst>
            <pc:docMk/>
            <pc:sldMk cId="1632951453" sldId="271"/>
            <ac:spMk id="8" creationId="{00000000-0000-0000-0000-000000000000}"/>
          </ac:spMkLst>
        </pc:spChg>
        <pc:spChg chg="mod">
          <ac:chgData name="Maathavam Consulting" userId="6ee6a40a0106b3f1" providerId="LiveId" clId="{2D0F2F04-067F-4C37-B828-7D8EE8DC6936}" dt="2026-09-06T10:26:21.272" v="184" actId="20577"/>
          <ac:spMkLst>
            <pc:docMk/>
            <pc:sldMk cId="1632951453" sldId="271"/>
            <ac:spMk id="10" creationId="{00000000-0000-0000-0000-000000000000}"/>
          </ac:spMkLst>
        </pc:spChg>
        <pc:spChg chg="mod">
          <ac:chgData name="Maathavam Consulting" userId="6ee6a40a0106b3f1" providerId="LiveId" clId="{2D0F2F04-067F-4C37-B828-7D8EE8DC6936}" dt="2026-09-06T10:26:46.793" v="200" actId="20577"/>
          <ac:spMkLst>
            <pc:docMk/>
            <pc:sldMk cId="1632951453" sldId="271"/>
            <ac:spMk id="12" creationId="{00000000-0000-0000-0000-000000000000}"/>
          </ac:spMkLst>
        </pc:spChg>
      </pc:sldChg>
      <pc:sldChg chg="add">
        <pc:chgData name="Maathavam Consulting" userId="6ee6a40a0106b3f1" providerId="LiveId" clId="{2D0F2F04-067F-4C37-B828-7D8EE8DC6936}" dt="2026-09-06T10:17:11.699" v="35"/>
        <pc:sldMkLst>
          <pc:docMk/>
          <pc:sldMk cId="429320262" sldId="272"/>
        </pc:sldMkLst>
      </pc:sldChg>
      <pc:sldChg chg="add del">
        <pc:chgData name="Maathavam Consulting" userId="6ee6a40a0106b3f1" providerId="LiveId" clId="{2D0F2F04-067F-4C37-B828-7D8EE8DC6936}" dt="2026-09-06T10:25:08.842" v="165"/>
        <pc:sldMkLst>
          <pc:docMk/>
          <pc:sldMk cId="2417274329" sldId="273"/>
        </pc:sldMkLst>
      </pc:sldChg>
      <pc:sldChg chg="add del">
        <pc:chgData name="Maathavam Consulting" userId="6ee6a40a0106b3f1" providerId="LiveId" clId="{2D0F2F04-067F-4C37-B828-7D8EE8DC6936}" dt="2026-09-06T10:25:09.973" v="167"/>
        <pc:sldMkLst>
          <pc:docMk/>
          <pc:sldMk cId="1283220059" sldId="274"/>
        </pc:sldMkLst>
      </pc:sldChg>
      <pc:sldChg chg="add del">
        <pc:chgData name="Maathavam Consulting" userId="6ee6a40a0106b3f1" providerId="LiveId" clId="{2D0F2F04-067F-4C37-B828-7D8EE8DC6936}" dt="2026-09-06T10:25:11.771" v="171"/>
        <pc:sldMkLst>
          <pc:docMk/>
          <pc:sldMk cId="1263788757" sldId="275"/>
        </pc:sldMkLst>
      </pc:sldChg>
      <pc:sldChg chg="modSp add del mod">
        <pc:chgData name="Maathavam Consulting" userId="6ee6a40a0106b3f1" providerId="LiveId" clId="{2D0F2F04-067F-4C37-B828-7D8EE8DC6936}" dt="2026-09-06T10:25:13.939" v="173"/>
        <pc:sldMkLst>
          <pc:docMk/>
          <pc:sldMk cId="2789379423" sldId="276"/>
        </pc:sldMkLst>
        <pc:spChg chg="mod">
          <ac:chgData name="Maathavam Consulting" userId="6ee6a40a0106b3f1" providerId="LiveId" clId="{2D0F2F04-067F-4C37-B828-7D8EE8DC6936}" dt="2026-09-06T10:18:59.435" v="89" actId="20577"/>
          <ac:spMkLst>
            <pc:docMk/>
            <pc:sldMk cId="2789379423" sldId="276"/>
            <ac:spMk id="25" creationId="{00000000-0000-0000-0000-000000000000}"/>
          </ac:spMkLst>
        </pc:spChg>
      </pc:sldChg>
      <pc:sldChg chg="add">
        <pc:chgData name="Maathavam Consulting" userId="6ee6a40a0106b3f1" providerId="LiveId" clId="{2D0F2F04-067F-4C37-B828-7D8EE8DC6936}" dt="2026-09-06T10:17:16.019" v="45"/>
        <pc:sldMkLst>
          <pc:docMk/>
          <pc:sldMk cId="3740258310" sldId="277"/>
        </pc:sldMkLst>
      </pc:sldChg>
      <pc:sldChg chg="add del">
        <pc:chgData name="Maathavam Consulting" userId="6ee6a40a0106b3f1" providerId="LiveId" clId="{2D0F2F04-067F-4C37-B828-7D8EE8DC6936}" dt="2026-09-06T10:23:38.512" v="160" actId="2696"/>
        <pc:sldMkLst>
          <pc:docMk/>
          <pc:sldMk cId="1102697367" sldId="278"/>
        </pc:sldMkLst>
      </pc:sldChg>
      <pc:sldChg chg="add del setBg">
        <pc:chgData name="Maathavam Consulting" userId="6ee6a40a0106b3f1" providerId="LiveId" clId="{2D0F2F04-067F-4C37-B828-7D8EE8DC6936}" dt="2026-09-06T10:25:06.952" v="163"/>
        <pc:sldMkLst>
          <pc:docMk/>
          <pc:sldMk cId="4205625378" sldId="278"/>
        </pc:sldMkLst>
      </pc:sldChg>
      <pc:sldChg chg="add">
        <pc:chgData name="Maathavam Consulting" userId="6ee6a40a0106b3f1" providerId="LiveId" clId="{2D0F2F04-067F-4C37-B828-7D8EE8DC6936}" dt="2026-09-06T10:25:06.952" v="162"/>
        <pc:sldMkLst>
          <pc:docMk/>
          <pc:sldMk cId="2615163568" sldId="279"/>
        </pc:sldMkLst>
      </pc:sldChg>
      <pc:sldChg chg="add">
        <pc:chgData name="Maathavam Consulting" userId="6ee6a40a0106b3f1" providerId="LiveId" clId="{2D0F2F04-067F-4C37-B828-7D8EE8DC6936}" dt="2026-09-06T10:25:08.834" v="164"/>
        <pc:sldMkLst>
          <pc:docMk/>
          <pc:sldMk cId="3468197538" sldId="280"/>
        </pc:sldMkLst>
      </pc:sldChg>
      <pc:sldChg chg="add">
        <pc:chgData name="Maathavam Consulting" userId="6ee6a40a0106b3f1" providerId="LiveId" clId="{2D0F2F04-067F-4C37-B828-7D8EE8DC6936}" dt="2026-09-06T10:25:09.969" v="166"/>
        <pc:sldMkLst>
          <pc:docMk/>
          <pc:sldMk cId="3097890998" sldId="281"/>
        </pc:sldMkLst>
      </pc:sldChg>
      <pc:sldChg chg="add">
        <pc:chgData name="Maathavam Consulting" userId="6ee6a40a0106b3f1" providerId="LiveId" clId="{2D0F2F04-067F-4C37-B828-7D8EE8DC6936}" dt="2026-09-06T10:25:10.916" v="168"/>
        <pc:sldMkLst>
          <pc:docMk/>
          <pc:sldMk cId="4202666227" sldId="282"/>
        </pc:sldMkLst>
      </pc:sldChg>
      <pc:sldChg chg="add">
        <pc:chgData name="Maathavam Consulting" userId="6ee6a40a0106b3f1" providerId="LiveId" clId="{2D0F2F04-067F-4C37-B828-7D8EE8DC6936}" dt="2026-09-06T10:25:11.763" v="170"/>
        <pc:sldMkLst>
          <pc:docMk/>
          <pc:sldMk cId="3462436542" sldId="283"/>
        </pc:sldMkLst>
      </pc:sldChg>
      <pc:sldChg chg="add">
        <pc:chgData name="Maathavam Consulting" userId="6ee6a40a0106b3f1" providerId="LiveId" clId="{2D0F2F04-067F-4C37-B828-7D8EE8DC6936}" dt="2026-09-06T10:25:13.936" v="172"/>
        <pc:sldMkLst>
          <pc:docMk/>
          <pc:sldMk cId="422476060" sldId="28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9154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5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1583cab4294dd267f851eebac6f1c29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2663029e4d3522c94df2c8ad43834729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239805" y="-1143000"/>
            <a:ext cx="8572500" cy="12573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867998" y="2247595"/>
            <a:ext cx="4972507" cy="4972507"/>
          </a:xfrm>
          <a:prstGeom prst="ellipse">
            <a:avLst/>
          </a:prstGeom>
          <a:noFill/>
          <a:ln w="12700">
            <a:solidFill>
              <a:srgbClr val="E4B84E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2" descr="gen-dedup-5671be1fc05efcaa818000ef7b44d203.png"/>
          <p:cNvPicPr>
            <a:picLocks noChangeAspect="1"/>
          </p:cNvPicPr>
          <p:nvPr/>
        </p:nvPicPr>
        <p:blipFill>
          <a:blip r:embed="rId5"/>
          <a:srcRect l="-89" r="-89"/>
          <a:stretch/>
        </p:blipFill>
        <p:spPr>
          <a:xfrm>
            <a:off x="1143000" y="990295"/>
            <a:ext cx="819302" cy="47549"/>
          </a:xfrm>
          <a:prstGeom prst="rect">
            <a:avLst/>
          </a:prstGeom>
        </p:spPr>
      </p:pic>
      <p:pic>
        <p:nvPicPr>
          <p:cNvPr id="6" name="Image 3" descr="gen-dedup-6431515d3c8c8f3dff9c1f482668da8e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1143000" y="6838798"/>
            <a:ext cx="1143000" cy="19202"/>
          </a:xfrm>
          <a:prstGeom prst="rect">
            <a:avLst/>
          </a:prstGeom>
        </p:spPr>
      </p:pic>
      <p:pic>
        <p:nvPicPr>
          <p:cNvPr id="7" name="Image 4" descr="gen-dedup-26535d320520b91ad940a52ce53e317d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1143000" y="8953805"/>
            <a:ext cx="16002000" cy="9144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11867998" y="2915107"/>
            <a:ext cx="4953305" cy="3620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0" dirty="0"/>
              <a:t>GS</a:t>
            </a:r>
          </a:p>
        </p:txBody>
      </p:sp>
      <p:sp>
        <p:nvSpPr>
          <p:cNvPr id="9" name="Text 2"/>
          <p:cNvSpPr txBox="1"/>
          <p:nvPr/>
        </p:nvSpPr>
        <p:spPr>
          <a:xfrm>
            <a:off x="1143000" y="1257300"/>
            <a:ext cx="8572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25" kern="0" spc="689" dirty="0">
                <a:solidFill>
                  <a:srgbClr val="E9E4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GOSECURE CONSULTING</a:t>
            </a:r>
            <a:endParaRPr lang="en-US" sz="2025" dirty="0"/>
          </a:p>
        </p:txBody>
      </p:sp>
      <p:sp>
        <p:nvSpPr>
          <p:cNvPr id="10" name="Text 3"/>
          <p:cNvSpPr txBox="1"/>
          <p:nvPr/>
        </p:nvSpPr>
        <p:spPr>
          <a:xfrm>
            <a:off x="1143000" y="3353105"/>
            <a:ext cx="10287000" cy="3143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900" b="1" kern="0" spc="-103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Transforming Finance &amp; HR &amp; IT into Strategic Value Engines</a:t>
            </a:r>
            <a:endParaRPr lang="en-US" sz="6900" dirty="0"/>
          </a:p>
        </p:txBody>
      </p:sp>
      <p:sp>
        <p:nvSpPr>
          <p:cNvPr id="11" name="Text 4"/>
          <p:cNvSpPr txBox="1"/>
          <p:nvPr/>
        </p:nvSpPr>
        <p:spPr>
          <a:xfrm>
            <a:off x="1143000" y="7239305"/>
            <a:ext cx="952530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dirty="0">
                <a:solidFill>
                  <a:srgbClr val="BFCB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strategic transformation partner for CFOs, CHROs and Heads of Shared Services — turning cost centres into decision engines.</a:t>
            </a:r>
            <a:endParaRPr lang="en-US" sz="2400" dirty="0"/>
          </a:p>
        </p:txBody>
      </p:sp>
      <p:sp>
        <p:nvSpPr>
          <p:cNvPr id="12" name="Text 5"/>
          <p:cNvSpPr txBox="1"/>
          <p:nvPr/>
        </p:nvSpPr>
        <p:spPr>
          <a:xfrm>
            <a:off x="1143000" y="9296705"/>
            <a:ext cx="125730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kern="0" spc="165" dirty="0">
                <a:solidFill>
                  <a:srgbClr val="8FA2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FINANCE &amp; ACCOUNTING · FRACTIONAL CFO · HR &amp; TALENT OPERATIONS · TRANSFORMATION . IT SERVICES</a:t>
            </a:r>
            <a:endParaRPr lang="en-US" sz="1500" dirty="0"/>
          </a:p>
        </p:txBody>
      </p:sp>
      <p:sp>
        <p:nvSpPr>
          <p:cNvPr id="13" name="Text 6"/>
          <p:cNvSpPr txBox="1"/>
          <p:nvPr/>
        </p:nvSpPr>
        <p:spPr>
          <a:xfrm>
            <a:off x="14097305" y="9296705"/>
            <a:ext cx="3048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500" kern="0" spc="165" dirty="0">
                <a:solidFill>
                  <a:srgbClr val="8FA2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CAPABILITY OVERVIEW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632951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2857500"/>
            <a:ext cx="5905195" cy="5333695"/>
          </a:xfrm>
          <a:prstGeom prst="rect">
            <a:avLst/>
          </a:prstGeom>
          <a:solidFill>
            <a:srgbClr val="0B24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gen-dedup-3456c0237efcf644ff6867b4bf2aa0c3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7619695" y="2857500"/>
            <a:ext cx="9525305" cy="9144"/>
          </a:xfrm>
          <a:prstGeom prst="rect">
            <a:avLst/>
          </a:prstGeom>
        </p:spPr>
      </p:pic>
      <p:pic>
        <p:nvPicPr>
          <p:cNvPr id="4" name="Image 1" descr="gen-dedup-3456c0237efcf644ff6867b4bf2aa0c3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7619695" y="4686300"/>
            <a:ext cx="9525305" cy="9144"/>
          </a:xfrm>
          <a:prstGeom prst="rect">
            <a:avLst/>
          </a:prstGeom>
        </p:spPr>
      </p:pic>
      <p:pic>
        <p:nvPicPr>
          <p:cNvPr id="5" name="Image 2" descr="gen-dedup-3456c0237efcf644ff6867b4bf2aa0c3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7619695" y="6515100"/>
            <a:ext cx="9525305" cy="91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1143000" y="8572500"/>
            <a:ext cx="16059607" cy="875995"/>
          </a:xfrm>
          <a:prstGeom prst="rect">
            <a:avLst/>
          </a:prstGeom>
          <a:solidFill>
            <a:srgbClr val="EDE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2"/>
          <p:cNvSpPr/>
          <p:nvPr/>
        </p:nvSpPr>
        <p:spPr>
          <a:xfrm>
            <a:off x="1143000" y="8572500"/>
            <a:ext cx="57607" cy="875995"/>
          </a:xfrm>
          <a:prstGeom prst="rect">
            <a:avLst/>
          </a:prstGeom>
          <a:solidFill>
            <a:srgbClr val="C08B2C"/>
          </a:solidFill>
          <a:ln w="12700">
            <a:solidFill>
              <a:srgbClr val="C08B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3" descr="gen-dedup-b333e7d3d8337a87e59bd373d3b0bba7.png"/>
          <p:cNvPicPr>
            <a:picLocks noChangeAspect="1"/>
          </p:cNvPicPr>
          <p:nvPr/>
        </p:nvPicPr>
        <p:blipFill>
          <a:blip r:embed="rId4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pic>
        <p:nvPicPr>
          <p:cNvPr id="9" name="Image 4" descr="gen-dedup-12865b7249fbd2e26d66191c271c5d32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143000" y="2343607"/>
            <a:ext cx="16002000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143000" y="819302"/>
            <a:ext cx="66678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429" dirty="0">
                <a:solidFill>
                  <a:srgbClr val="C08B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CHALLENGE</a:t>
            </a:r>
            <a:endParaRPr lang="en-US" sz="1650" dirty="0"/>
          </a:p>
        </p:txBody>
      </p:sp>
      <p:sp>
        <p:nvSpPr>
          <p:cNvPr id="11" name="Text 4"/>
          <p:cNvSpPr txBox="1"/>
          <p:nvPr/>
        </p:nvSpPr>
        <p:spPr>
          <a:xfrm>
            <a:off x="1143000" y="1218895"/>
            <a:ext cx="13477342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72" dirty="0">
                <a:solidFill>
                  <a:srgbClr val="0B244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GCC &amp; Shared Services Imperative</a:t>
            </a:r>
            <a:endParaRPr lang="en-US" sz="4800" dirty="0"/>
          </a:p>
        </p:txBody>
      </p:sp>
      <p:sp>
        <p:nvSpPr>
          <p:cNvPr id="12" name="Text 5"/>
          <p:cNvSpPr txBox="1"/>
          <p:nvPr/>
        </p:nvSpPr>
        <p:spPr>
          <a:xfrm>
            <a:off x="13525805" y="1228954"/>
            <a:ext cx="362011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610"/>
              </a:lnSpc>
              <a:buNone/>
            </a:pPr>
            <a:r>
              <a:rPr lang="en-US" sz="1800" dirty="0">
                <a:solidFill>
                  <a:srgbClr val="5A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Costs are rising faster</a:t>
            </a:r>
            <a:endParaRPr lang="en-US" sz="1800" dirty="0"/>
          </a:p>
          <a:p>
            <a:pPr marL="0" indent="0" algn="r">
              <a:lnSpc>
                <a:spcPts val="2610"/>
              </a:lnSpc>
              <a:buNone/>
            </a:pPr>
            <a:r>
              <a:rPr lang="en-US" sz="1800" dirty="0">
                <a:solidFill>
                  <a:srgbClr val="5A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than the value delivered.</a:t>
            </a:r>
            <a:endParaRPr lang="en-US" sz="1800" dirty="0"/>
          </a:p>
        </p:txBody>
      </p:sp>
      <p:pic>
        <p:nvPicPr>
          <p:cNvPr id="13" name="Image 5" descr="gen-dedup-0b6e544764aac6f77cfd7d69cdbd8e5a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381098" y="3353105"/>
            <a:ext cx="3429000" cy="3429000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2876702" y="3847795"/>
            <a:ext cx="2438705" cy="2438705"/>
          </a:xfrm>
          <a:prstGeom prst="ellipse">
            <a:avLst/>
          </a:prstGeom>
          <a:solidFill>
            <a:srgbClr val="0B24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7"/>
          <p:cNvSpPr txBox="1"/>
          <p:nvPr/>
        </p:nvSpPr>
        <p:spPr>
          <a:xfrm>
            <a:off x="3191256" y="4524451"/>
            <a:ext cx="2860243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85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76.2</a:t>
            </a:r>
            <a:r>
              <a:rPr lang="en-US" sz="300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%</a:t>
            </a:r>
            <a:endParaRPr lang="en-US" sz="5850" dirty="0"/>
          </a:p>
        </p:txBody>
      </p:sp>
      <p:sp>
        <p:nvSpPr>
          <p:cNvPr id="16" name="Text 8"/>
          <p:cNvSpPr txBox="1"/>
          <p:nvPr/>
        </p:nvSpPr>
        <p:spPr>
          <a:xfrm>
            <a:off x="3450946" y="5381244"/>
            <a:ext cx="139903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kern="0" spc="228" dirty="0">
                <a:solidFill>
                  <a:srgbClr val="E4B8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STAFF COST</a:t>
            </a:r>
            <a:endParaRPr lang="en-US" sz="1425" dirty="0"/>
          </a:p>
        </p:txBody>
      </p:sp>
      <p:sp>
        <p:nvSpPr>
          <p:cNvPr id="17" name="Text 9"/>
          <p:cNvSpPr txBox="1"/>
          <p:nvPr/>
        </p:nvSpPr>
        <p:spPr>
          <a:xfrm>
            <a:off x="1619402" y="7125005"/>
            <a:ext cx="49533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719"/>
              </a:lnSpc>
              <a:buNone/>
            </a:pPr>
            <a:r>
              <a:rPr lang="en-US" sz="1875" dirty="0">
                <a:solidFill>
                  <a:srgbClr val="BFCB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Staff costs as a share of Indian GCC operating expenditure</a:t>
            </a:r>
            <a:endParaRPr lang="en-US" sz="1875" dirty="0"/>
          </a:p>
        </p:txBody>
      </p:sp>
      <p:sp>
        <p:nvSpPr>
          <p:cNvPr id="18" name="Text 10"/>
          <p:cNvSpPr txBox="1"/>
          <p:nvPr/>
        </p:nvSpPr>
        <p:spPr>
          <a:xfrm>
            <a:off x="7619695" y="3124505"/>
            <a:ext cx="4197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C08B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2550" dirty="0"/>
          </a:p>
        </p:txBody>
      </p:sp>
      <p:sp>
        <p:nvSpPr>
          <p:cNvPr id="19" name="Text 11"/>
          <p:cNvSpPr txBox="1"/>
          <p:nvPr/>
        </p:nvSpPr>
        <p:spPr>
          <a:xfrm>
            <a:off x="8305495" y="3124505"/>
            <a:ext cx="8839505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B24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talent war is re-pricing the core</a:t>
            </a:r>
            <a:endParaRPr lang="en-US" sz="2550" dirty="0"/>
          </a:p>
        </p:txBody>
      </p:sp>
      <p:sp>
        <p:nvSpPr>
          <p:cNvPr id="20" name="Text 12"/>
          <p:cNvSpPr txBox="1"/>
          <p:nvPr/>
        </p:nvSpPr>
        <p:spPr>
          <a:xfrm>
            <a:off x="8305495" y="3642970"/>
            <a:ext cx="883950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13"/>
              </a:lnSpc>
              <a:buNone/>
            </a:pPr>
            <a:r>
              <a:rPr lang="en-US" sz="187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Competition for AI, data science and cybersecurity skills is inflating payrolls faster than productivity gains can absorb.</a:t>
            </a:r>
            <a:endParaRPr lang="en-US" sz="1875" dirty="0"/>
          </a:p>
        </p:txBody>
      </p:sp>
      <p:sp>
        <p:nvSpPr>
          <p:cNvPr id="21" name="Text 13"/>
          <p:cNvSpPr txBox="1"/>
          <p:nvPr/>
        </p:nvSpPr>
        <p:spPr>
          <a:xfrm>
            <a:off x="7619695" y="4953305"/>
            <a:ext cx="4197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C08B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2550" dirty="0"/>
          </a:p>
        </p:txBody>
      </p:sp>
      <p:sp>
        <p:nvSpPr>
          <p:cNvPr id="22" name="Text 14"/>
          <p:cNvSpPr txBox="1"/>
          <p:nvPr/>
        </p:nvSpPr>
        <p:spPr>
          <a:xfrm>
            <a:off x="8305495" y="4953305"/>
            <a:ext cx="8839505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B24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Maturity is stuck at transactional</a:t>
            </a:r>
            <a:endParaRPr lang="en-US" sz="2550" dirty="0"/>
          </a:p>
        </p:txBody>
      </p:sp>
      <p:sp>
        <p:nvSpPr>
          <p:cNvPr id="23" name="Text 15"/>
          <p:cNvSpPr txBox="1"/>
          <p:nvPr/>
        </p:nvSpPr>
        <p:spPr>
          <a:xfrm>
            <a:off x="8305495" y="5471770"/>
            <a:ext cx="883950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13"/>
              </a:lnSpc>
              <a:buNone/>
            </a:pPr>
            <a:r>
              <a:rPr lang="en-US" sz="187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Most centres still process volume rather than partner on decisions — capability sits below the mandate leadership expects.</a:t>
            </a:r>
            <a:endParaRPr lang="en-US" sz="1875" dirty="0"/>
          </a:p>
        </p:txBody>
      </p:sp>
      <p:sp>
        <p:nvSpPr>
          <p:cNvPr id="24" name="Text 16"/>
          <p:cNvSpPr txBox="1"/>
          <p:nvPr/>
        </p:nvSpPr>
        <p:spPr>
          <a:xfrm>
            <a:off x="7619695" y="6782105"/>
            <a:ext cx="4197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C08B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2550" dirty="0"/>
          </a:p>
        </p:txBody>
      </p:sp>
      <p:sp>
        <p:nvSpPr>
          <p:cNvPr id="25" name="Text 17"/>
          <p:cNvSpPr txBox="1"/>
          <p:nvPr/>
        </p:nvSpPr>
        <p:spPr>
          <a:xfrm>
            <a:off x="8305495" y="6782105"/>
            <a:ext cx="8839505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B24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Cost-out alone is not a strategy</a:t>
            </a:r>
            <a:endParaRPr lang="en-US" sz="2550" dirty="0"/>
          </a:p>
        </p:txBody>
      </p:sp>
      <p:sp>
        <p:nvSpPr>
          <p:cNvPr id="26" name="Text 18"/>
          <p:cNvSpPr txBox="1"/>
          <p:nvPr/>
        </p:nvSpPr>
        <p:spPr>
          <a:xfrm>
            <a:off x="8305495" y="7300570"/>
            <a:ext cx="883950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13"/>
              </a:lnSpc>
              <a:buNone/>
            </a:pPr>
            <a:r>
              <a:rPr lang="en-US" sz="187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Headcount cuts erode capability. Durable savings have to come bundled with automation, redesign and innovation.</a:t>
            </a:r>
            <a:endParaRPr lang="en-US" sz="1875" dirty="0"/>
          </a:p>
        </p:txBody>
      </p:sp>
      <p:sp>
        <p:nvSpPr>
          <p:cNvPr id="27" name="Text 19"/>
          <p:cNvSpPr txBox="1"/>
          <p:nvPr/>
        </p:nvSpPr>
        <p:spPr>
          <a:xfrm>
            <a:off x="1505102" y="8801100"/>
            <a:ext cx="152403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0B244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mandate: reduce unit cost </a:t>
            </a:r>
            <a:r>
              <a:rPr lang="en-US" sz="2475" b="1" dirty="0">
                <a:solidFill>
                  <a:srgbClr val="C08B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and</a:t>
            </a:r>
            <a:r>
              <a:rPr lang="en-US" sz="2475" b="1" dirty="0">
                <a:solidFill>
                  <a:srgbClr val="0B244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raise decision value — at the same time.</a:t>
            </a:r>
            <a:endParaRPr lang="en-US" sz="2475" dirty="0"/>
          </a:p>
        </p:txBody>
      </p:sp>
      <p:sp>
        <p:nvSpPr>
          <p:cNvPr id="28" name="Text 20"/>
          <p:cNvSpPr txBox="1"/>
          <p:nvPr/>
        </p:nvSpPr>
        <p:spPr>
          <a:xfrm>
            <a:off x="1143000" y="9715500"/>
            <a:ext cx="8572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8B85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GOSECURE CONSULTING</a:t>
            </a:r>
            <a:endParaRPr lang="en-US" sz="1350" dirty="0"/>
          </a:p>
        </p:txBody>
      </p:sp>
      <p:sp>
        <p:nvSpPr>
          <p:cNvPr id="29" name="Text 21"/>
          <p:cNvSpPr txBox="1"/>
          <p:nvPr/>
        </p:nvSpPr>
        <p:spPr>
          <a:xfrm>
            <a:off x="16192195" y="9715500"/>
            <a:ext cx="952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8B85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429320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99e1ca420974d33c1b0c9369421a49f.png"/>
          <p:cNvPicPr>
            <a:picLocks noChangeAspect="1"/>
          </p:cNvPicPr>
          <p:nvPr/>
        </p:nvPicPr>
        <p:blipFill>
          <a:blip r:embed="rId3"/>
          <a:srcRect l="-3" r="-3"/>
          <a:stretch/>
        </p:blipFill>
        <p:spPr>
          <a:xfrm>
            <a:off x="1143000" y="2540000"/>
            <a:ext cx="7830007" cy="2133600"/>
          </a:xfrm>
          <a:prstGeom prst="rect">
            <a:avLst/>
          </a:prstGeom>
        </p:spPr>
      </p:pic>
      <p:pic>
        <p:nvPicPr>
          <p:cNvPr id="3" name="Image 1" descr="gen-dedup-999e1ca420974d33c1b0c9369421a49f.png"/>
          <p:cNvPicPr>
            <a:picLocks noChangeAspect="1"/>
          </p:cNvPicPr>
          <p:nvPr/>
        </p:nvPicPr>
        <p:blipFill>
          <a:blip r:embed="rId3"/>
          <a:srcRect l="-3" r="-3"/>
          <a:stretch/>
        </p:blipFill>
        <p:spPr>
          <a:xfrm>
            <a:off x="9372600" y="2540000"/>
            <a:ext cx="7830007" cy="2133600"/>
          </a:xfrm>
          <a:prstGeom prst="rect">
            <a:avLst/>
          </a:prstGeom>
        </p:spPr>
      </p:pic>
      <p:pic>
        <p:nvPicPr>
          <p:cNvPr id="4" name="Image 2" descr="gen-dedup-999e1ca420974d33c1b0c9369421a49f.png"/>
          <p:cNvPicPr>
            <a:picLocks noChangeAspect="1"/>
          </p:cNvPicPr>
          <p:nvPr/>
        </p:nvPicPr>
        <p:blipFill>
          <a:blip r:embed="rId3"/>
          <a:srcRect l="-3" r="-3"/>
          <a:stretch/>
        </p:blipFill>
        <p:spPr>
          <a:xfrm>
            <a:off x="1143000" y="4826000"/>
            <a:ext cx="7830007" cy="2133600"/>
          </a:xfrm>
          <a:prstGeom prst="rect">
            <a:avLst/>
          </a:prstGeom>
        </p:spPr>
      </p:pic>
      <p:pic>
        <p:nvPicPr>
          <p:cNvPr id="5" name="Image 3" descr="gen-dedup-d704440345c9430524bb6117eb211ef9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9372600" y="4826000"/>
            <a:ext cx="7830007" cy="2133600"/>
          </a:xfrm>
          <a:prstGeom prst="rect">
            <a:avLst/>
          </a:prstGeom>
        </p:spPr>
      </p:pic>
      <p:pic>
        <p:nvPicPr>
          <p:cNvPr id="6" name="Image 4" descr="gen-dedup-b333e7d3d8337a87e59bd373d3b0bba7.png"/>
          <p:cNvPicPr>
            <a:picLocks noChangeAspect="1"/>
          </p:cNvPicPr>
          <p:nvPr/>
        </p:nvPicPr>
        <p:blipFill>
          <a:blip r:embed="rId5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pic>
        <p:nvPicPr>
          <p:cNvPr id="7" name="Image 5" descr="gen-dedup-12865b7249fbd2e26d66191c271c5d32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143000" y="2343607"/>
            <a:ext cx="16002000" cy="9144"/>
          </a:xfrm>
          <a:prstGeom prst="rect">
            <a:avLst/>
          </a:prstGeom>
        </p:spPr>
      </p:pic>
      <p:pic>
        <p:nvPicPr>
          <p:cNvPr id="8" name="Image 6" descr="gen-dedup-12865b7249fbd2e26d66191c271c5d32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143000" y="8953805"/>
            <a:ext cx="16002000" cy="9144"/>
          </a:xfrm>
          <a:prstGeom prst="rect">
            <a:avLst/>
          </a:prstGeom>
        </p:spPr>
      </p:pic>
      <p:sp>
        <p:nvSpPr>
          <p:cNvPr id="9" name="Text 0"/>
          <p:cNvSpPr txBox="1"/>
          <p:nvPr/>
        </p:nvSpPr>
        <p:spPr>
          <a:xfrm>
            <a:off x="1143000" y="819302"/>
            <a:ext cx="66678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429" dirty="0">
                <a:solidFill>
                  <a:srgbClr val="C08B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WE DO</a:t>
            </a:r>
            <a:endParaRPr lang="en-US" sz="1650" dirty="0"/>
          </a:p>
        </p:txBody>
      </p:sp>
      <p:sp>
        <p:nvSpPr>
          <p:cNvPr id="10" name="Text 1"/>
          <p:cNvSpPr txBox="1"/>
          <p:nvPr/>
        </p:nvSpPr>
        <p:spPr>
          <a:xfrm>
            <a:off x="1143000" y="1218895"/>
            <a:ext cx="11632997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72" dirty="0">
                <a:solidFill>
                  <a:srgbClr val="0B244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Five service lines, one outcome</a:t>
            </a:r>
            <a:endParaRPr lang="en-US" sz="4800" dirty="0"/>
          </a:p>
        </p:txBody>
      </p:sp>
      <p:sp>
        <p:nvSpPr>
          <p:cNvPr id="11" name="Text 2"/>
          <p:cNvSpPr txBox="1"/>
          <p:nvPr/>
        </p:nvSpPr>
        <p:spPr>
          <a:xfrm>
            <a:off x="12382805" y="1295705"/>
            <a:ext cx="47631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2610"/>
              </a:lnSpc>
              <a:buNone/>
            </a:pPr>
            <a:r>
              <a:rPr lang="en-US" sz="1800" dirty="0">
                <a:solidFill>
                  <a:srgbClr val="5A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Engage a single line, or the full stack — scoped to your maturity gap.</a:t>
            </a:r>
            <a:endParaRPr lang="en-US" sz="1800" dirty="0"/>
          </a:p>
        </p:txBody>
      </p:sp>
      <p:sp>
        <p:nvSpPr>
          <p:cNvPr id="12" name="Text 3"/>
          <p:cNvSpPr txBox="1"/>
          <p:nvPr/>
        </p:nvSpPr>
        <p:spPr>
          <a:xfrm>
            <a:off x="1580998" y="2768600"/>
            <a:ext cx="31821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08B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950" dirty="0"/>
          </a:p>
        </p:txBody>
      </p:sp>
      <p:sp>
        <p:nvSpPr>
          <p:cNvPr id="13" name="Text 4"/>
          <p:cNvSpPr txBox="1"/>
          <p:nvPr/>
        </p:nvSpPr>
        <p:spPr>
          <a:xfrm>
            <a:off x="2042770" y="2768600"/>
            <a:ext cx="444307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24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Finance &amp; Accounting</a:t>
            </a:r>
            <a:endParaRPr lang="en-US" sz="2700" dirty="0"/>
          </a:p>
        </p:txBody>
      </p:sp>
      <p:sp>
        <p:nvSpPr>
          <p:cNvPr id="14" name="Text 5"/>
          <p:cNvSpPr txBox="1"/>
          <p:nvPr/>
        </p:nvSpPr>
        <p:spPr>
          <a:xfrm>
            <a:off x="1580998" y="3225800"/>
            <a:ext cx="695401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Full-cycle F&amp;A operations · Financial planning &amp; analysis · Statutory reporting and compliance · Treasury and working-capital management</a:t>
            </a:r>
            <a:endParaRPr lang="en-US" sz="1800" dirty="0"/>
          </a:p>
        </p:txBody>
      </p:sp>
      <p:sp>
        <p:nvSpPr>
          <p:cNvPr id="15" name="Text 6"/>
          <p:cNvSpPr txBox="1"/>
          <p:nvPr/>
        </p:nvSpPr>
        <p:spPr>
          <a:xfrm>
            <a:off x="1580998" y="4292600"/>
            <a:ext cx="6954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kern="0" spc="158" dirty="0">
                <a:solidFill>
                  <a:srgbClr val="8B85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RELIABLE CLOSE · CLEAN CONTROLS · LOWER UNIT COST</a:t>
            </a:r>
            <a:endParaRPr lang="en-US" sz="1575" dirty="0"/>
          </a:p>
        </p:txBody>
      </p:sp>
      <p:sp>
        <p:nvSpPr>
          <p:cNvPr id="16" name="Text 7"/>
          <p:cNvSpPr txBox="1"/>
          <p:nvPr/>
        </p:nvSpPr>
        <p:spPr>
          <a:xfrm>
            <a:off x="9810598" y="2768600"/>
            <a:ext cx="31821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08B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950" dirty="0"/>
          </a:p>
        </p:txBody>
      </p:sp>
      <p:sp>
        <p:nvSpPr>
          <p:cNvPr id="17" name="Text 8"/>
          <p:cNvSpPr txBox="1"/>
          <p:nvPr/>
        </p:nvSpPr>
        <p:spPr>
          <a:xfrm>
            <a:off x="10272370" y="2768600"/>
            <a:ext cx="5080406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24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Fractional CFO Services</a:t>
            </a:r>
            <a:endParaRPr lang="en-US" sz="2700" dirty="0"/>
          </a:p>
        </p:txBody>
      </p:sp>
      <p:sp>
        <p:nvSpPr>
          <p:cNvPr id="18" name="Text 9"/>
          <p:cNvSpPr txBox="1"/>
          <p:nvPr/>
        </p:nvSpPr>
        <p:spPr>
          <a:xfrm>
            <a:off x="9810598" y="3225800"/>
            <a:ext cx="695401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Strategic financial leadership on demand · Growth and funding enablement · Board and investor readiness · Stakeholder value creation</a:t>
            </a:r>
            <a:endParaRPr lang="en-US" sz="1800" dirty="0"/>
          </a:p>
        </p:txBody>
      </p:sp>
      <p:sp>
        <p:nvSpPr>
          <p:cNvPr id="19" name="Text 10"/>
          <p:cNvSpPr txBox="1"/>
          <p:nvPr/>
        </p:nvSpPr>
        <p:spPr>
          <a:xfrm>
            <a:off x="9810598" y="4292600"/>
            <a:ext cx="6954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kern="0" spc="158" dirty="0">
                <a:solidFill>
                  <a:srgbClr val="8B85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CFO-CALIBRE JUDGEMENT WITHOUT THE FIXED COST</a:t>
            </a:r>
            <a:endParaRPr lang="en-US" sz="1575" dirty="0"/>
          </a:p>
        </p:txBody>
      </p:sp>
      <p:sp>
        <p:nvSpPr>
          <p:cNvPr id="20" name="Text 11"/>
          <p:cNvSpPr txBox="1"/>
          <p:nvPr/>
        </p:nvSpPr>
        <p:spPr>
          <a:xfrm>
            <a:off x="1580998" y="5054600"/>
            <a:ext cx="31821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08B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950" dirty="0"/>
          </a:p>
        </p:txBody>
      </p:sp>
      <p:sp>
        <p:nvSpPr>
          <p:cNvPr id="21" name="Text 12"/>
          <p:cNvSpPr txBox="1"/>
          <p:nvPr/>
        </p:nvSpPr>
        <p:spPr>
          <a:xfrm>
            <a:off x="2042770" y="5054600"/>
            <a:ext cx="4868266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24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HR &amp; Talent Operations</a:t>
            </a:r>
            <a:endParaRPr lang="en-US" sz="2700" dirty="0"/>
          </a:p>
        </p:txBody>
      </p:sp>
      <p:sp>
        <p:nvSpPr>
          <p:cNvPr id="22" name="Text 13"/>
          <p:cNvSpPr txBox="1"/>
          <p:nvPr/>
        </p:nvSpPr>
        <p:spPr>
          <a:xfrm>
            <a:off x="1580998" y="5511800"/>
            <a:ext cx="695401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HR shared services delivery · Talent architecture and workforce design · Performance management systems · Change leadership and adoption</a:t>
            </a:r>
            <a:endParaRPr lang="en-US" sz="1800" dirty="0"/>
          </a:p>
        </p:txBody>
      </p:sp>
      <p:sp>
        <p:nvSpPr>
          <p:cNvPr id="23" name="Text 14"/>
          <p:cNvSpPr txBox="1"/>
          <p:nvPr/>
        </p:nvSpPr>
        <p:spPr>
          <a:xfrm>
            <a:off x="1580998" y="6578600"/>
            <a:ext cx="6954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kern="0" spc="158" dirty="0">
                <a:solidFill>
                  <a:srgbClr val="8B85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CAPABILITY THAT SCALES WITH THE BUSINESS</a:t>
            </a:r>
            <a:endParaRPr lang="en-US" sz="1575" dirty="0"/>
          </a:p>
        </p:txBody>
      </p:sp>
      <p:sp>
        <p:nvSpPr>
          <p:cNvPr id="24" name="Text 15"/>
          <p:cNvSpPr txBox="1"/>
          <p:nvPr/>
        </p:nvSpPr>
        <p:spPr>
          <a:xfrm>
            <a:off x="9810598" y="5054600"/>
            <a:ext cx="31821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E4B84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</a:t>
            </a:r>
            <a:endParaRPr lang="en-US" sz="1950" dirty="0"/>
          </a:p>
        </p:txBody>
      </p:sp>
      <p:sp>
        <p:nvSpPr>
          <p:cNvPr id="25" name="Text 16"/>
          <p:cNvSpPr txBox="1"/>
          <p:nvPr/>
        </p:nvSpPr>
        <p:spPr>
          <a:xfrm>
            <a:off x="10272370" y="5054600"/>
            <a:ext cx="5505602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Transformation Consulting</a:t>
            </a:r>
            <a:endParaRPr lang="en-US" sz="2700" dirty="0"/>
          </a:p>
        </p:txBody>
      </p:sp>
      <p:sp>
        <p:nvSpPr>
          <p:cNvPr id="26" name="Text 17"/>
          <p:cNvSpPr txBox="1"/>
          <p:nvPr/>
        </p:nvSpPr>
        <p:spPr>
          <a:xfrm>
            <a:off x="9810598" y="5511800"/>
            <a:ext cx="6954012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C6D2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 reengineering · Digital and RPA automation · Service maturity elevation · Operating model and governance redesign</a:t>
            </a:r>
            <a:endParaRPr lang="en-US" sz="1800" dirty="0"/>
          </a:p>
        </p:txBody>
      </p:sp>
      <p:sp>
        <p:nvSpPr>
          <p:cNvPr id="27" name="Text 18"/>
          <p:cNvSpPr txBox="1"/>
          <p:nvPr/>
        </p:nvSpPr>
        <p:spPr>
          <a:xfrm>
            <a:off x="9810598" y="6578600"/>
            <a:ext cx="6954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kern="0" spc="158" dirty="0">
                <a:solidFill>
                  <a:srgbClr val="8FA2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ENGINE THAT UPGRADES THE OTHER THREE</a:t>
            </a:r>
            <a:endParaRPr lang="en-US" sz="1575" dirty="0"/>
          </a:p>
        </p:txBody>
      </p:sp>
      <p:sp>
        <p:nvSpPr>
          <p:cNvPr id="28" name="Text 19"/>
          <p:cNvSpPr txBox="1"/>
          <p:nvPr/>
        </p:nvSpPr>
        <p:spPr>
          <a:xfrm>
            <a:off x="1143000" y="9219895"/>
            <a:ext cx="13335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0B244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through-line: convert cost centres into strategic business partners.</a:t>
            </a:r>
            <a:endParaRPr lang="en-US" sz="2325" dirty="0"/>
          </a:p>
        </p:txBody>
      </p:sp>
      <p:sp>
        <p:nvSpPr>
          <p:cNvPr id="29" name="Text 20"/>
          <p:cNvSpPr txBox="1"/>
          <p:nvPr/>
        </p:nvSpPr>
        <p:spPr>
          <a:xfrm>
            <a:off x="16192195" y="9715500"/>
            <a:ext cx="952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8B85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350" dirty="0"/>
          </a:p>
        </p:txBody>
      </p:sp>
      <p:sp>
        <p:nvSpPr>
          <p:cNvPr id="30" name="IT Card BG">
            <a:extLst>
              <a:ext uri="{FF2B5EF4-FFF2-40B4-BE49-F238E27FC236}">
                <a16:creationId xmlns:a16="http://schemas.microsoft.com/office/drawing/2014/main" id="{7C5E48D3-FE59-4604-BEA4-7998A82F2723}"/>
              </a:ext>
            </a:extLst>
          </p:cNvPr>
          <p:cNvSpPr/>
          <p:nvPr/>
        </p:nvSpPr>
        <p:spPr>
          <a:xfrm>
            <a:off x="1143000" y="7112000"/>
            <a:ext cx="16065500" cy="162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1" name="IT Card Bar">
            <a:extLst>
              <a:ext uri="{FF2B5EF4-FFF2-40B4-BE49-F238E27FC236}">
                <a16:creationId xmlns:a16="http://schemas.microsoft.com/office/drawing/2014/main" id="{4C648C46-70D3-49B3-869A-404097D8DB2C}"/>
              </a:ext>
            </a:extLst>
          </p:cNvPr>
          <p:cNvSpPr/>
          <p:nvPr/>
        </p:nvSpPr>
        <p:spPr>
          <a:xfrm>
            <a:off x="1143000" y="7112000"/>
            <a:ext cx="63500" cy="1625600"/>
          </a:xfrm>
          <a:prstGeom prst="rect">
            <a:avLst/>
          </a:prstGeom>
          <a:solidFill>
            <a:srgbClr val="C08B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EA7D30-51B1-4218-B25C-9028FB04D1D8}"/>
              </a:ext>
            </a:extLst>
          </p:cNvPr>
          <p:cNvSpPr txBox="1"/>
          <p:nvPr/>
        </p:nvSpPr>
        <p:spPr>
          <a:xfrm>
            <a:off x="1574800" y="7366000"/>
            <a:ext cx="406400" cy="381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IN" sz="1950" b="1">
                <a:solidFill>
                  <a:srgbClr val="C08B2C"/>
                </a:solidFill>
                <a:latin typeface="Source Serif 4"/>
              </a:rPr>
              <a:t>05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D2C46A-DF08-4EF0-9451-2FFFD6DE9AB7}"/>
              </a:ext>
            </a:extLst>
          </p:cNvPr>
          <p:cNvSpPr txBox="1"/>
          <p:nvPr/>
        </p:nvSpPr>
        <p:spPr>
          <a:xfrm>
            <a:off x="2044700" y="7340600"/>
            <a:ext cx="7112000" cy="4445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IN" sz="2700" b="1">
                <a:solidFill>
                  <a:srgbClr val="0B2447"/>
                </a:solidFill>
                <a:latin typeface="IBM Plex Sans"/>
              </a:rPr>
              <a:t>IT Managed Services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B71532-C66F-4AE9-AADB-BA6A401150DB}"/>
              </a:ext>
            </a:extLst>
          </p:cNvPr>
          <p:cNvSpPr txBox="1"/>
          <p:nvPr/>
        </p:nvSpPr>
        <p:spPr>
          <a:xfrm>
            <a:off x="1574800" y="7899400"/>
            <a:ext cx="15240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48586B"/>
                </a:solidFill>
                <a:latin typeface="IBM Plex Sans"/>
              </a:rPr>
              <a:t>End-to-end IT operations · Cloud and infrastructure management · Cybersecurity and compliance · 24/7 service desk and support</a:t>
            </a:r>
            <a:endParaRPr lang="en-IN">
              <a:solidFill>
                <a:srgbClr val="48586B"/>
              </a:solidFill>
              <a:latin typeface="IBM Plex San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26F8ABB-1C0A-4D8C-8694-3B1CA6E88DA3}"/>
              </a:ext>
            </a:extLst>
          </p:cNvPr>
          <p:cNvSpPr txBox="1"/>
          <p:nvPr/>
        </p:nvSpPr>
        <p:spPr>
          <a:xfrm>
            <a:off x="1574800" y="8356600"/>
            <a:ext cx="11430000" cy="3048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575">
                <a:solidFill>
                  <a:srgbClr val="8B8578"/>
                </a:solidFill>
                <a:latin typeface="IBM Plex Sans"/>
              </a:rPr>
              <a:t>PREDICTABLE UPTIME · SECURE BY DESIGN · SCALABLE SUPPORT</a:t>
            </a:r>
            <a:endParaRPr lang="en-IN" sz="1575">
              <a:solidFill>
                <a:srgbClr val="8B8578"/>
              </a:solidFill>
              <a:latin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2615163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258800" y="1143000"/>
            <a:ext cx="3886200" cy="914400"/>
          </a:xfrm>
          <a:prstGeom prst="rect">
            <a:avLst/>
          </a:prstGeom>
          <a:solidFill>
            <a:srgbClr val="0B24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gen-dedup-02046f75d0f14ecc31dea06f352883f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43000" y="2857500"/>
            <a:ext cx="3771900" cy="4686300"/>
          </a:xfrm>
          <a:prstGeom prst="rect">
            <a:avLst/>
          </a:prstGeom>
        </p:spPr>
      </p:pic>
      <p:pic>
        <p:nvPicPr>
          <p:cNvPr id="4" name="Image 1" descr="gen-dedup-02046f75d0f14ecc31dea06f352883f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19395" y="2857500"/>
            <a:ext cx="3771900" cy="4686300"/>
          </a:xfrm>
          <a:prstGeom prst="rect">
            <a:avLst/>
          </a:prstGeom>
        </p:spPr>
      </p:pic>
      <p:pic>
        <p:nvPicPr>
          <p:cNvPr id="5" name="Image 2" descr="gen-dedup-02046f75d0f14ecc31dea06f352883f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96705" y="2857500"/>
            <a:ext cx="3771900" cy="4686300"/>
          </a:xfrm>
          <a:prstGeom prst="rect">
            <a:avLst/>
          </a:prstGeom>
        </p:spPr>
      </p:pic>
      <p:pic>
        <p:nvPicPr>
          <p:cNvPr id="6" name="Image 3" descr="gen-dedup-b2dbdafbe7e793a0fec26e5a54862ad5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373100" y="2857500"/>
            <a:ext cx="3771900" cy="4686300"/>
          </a:xfrm>
          <a:prstGeom prst="rect">
            <a:avLst/>
          </a:prstGeom>
        </p:spPr>
      </p:pic>
      <p:pic>
        <p:nvPicPr>
          <p:cNvPr id="7" name="Image 4" descr="gen-dedup-0bb7e9b0c6e941b0973e83d400a130fa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143000" y="7810805"/>
            <a:ext cx="16002000" cy="57607"/>
          </a:xfrm>
          <a:prstGeom prst="rect">
            <a:avLst/>
          </a:prstGeom>
        </p:spPr>
      </p:pic>
      <p:sp>
        <p:nvSpPr>
          <p:cNvPr id="8" name="Shape 1"/>
          <p:cNvSpPr/>
          <p:nvPr/>
        </p:nvSpPr>
        <p:spPr>
          <a:xfrm>
            <a:off x="1143000" y="8686800"/>
            <a:ext cx="16059607" cy="761695"/>
          </a:xfrm>
          <a:prstGeom prst="rect">
            <a:avLst/>
          </a:prstGeom>
          <a:solidFill>
            <a:srgbClr val="EDE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2"/>
          <p:cNvSpPr/>
          <p:nvPr/>
        </p:nvSpPr>
        <p:spPr>
          <a:xfrm>
            <a:off x="1143000" y="8686800"/>
            <a:ext cx="57607" cy="761695"/>
          </a:xfrm>
          <a:prstGeom prst="rect">
            <a:avLst/>
          </a:prstGeom>
          <a:solidFill>
            <a:srgbClr val="C08B2C"/>
          </a:solidFill>
          <a:ln w="12700">
            <a:solidFill>
              <a:srgbClr val="C08B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5" descr="gen-dedup-b333e7d3d8337a87e59bd373d3b0bba7.png"/>
          <p:cNvPicPr>
            <a:picLocks noChangeAspect="1"/>
          </p:cNvPicPr>
          <p:nvPr/>
        </p:nvPicPr>
        <p:blipFill>
          <a:blip r:embed="rId6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pic>
        <p:nvPicPr>
          <p:cNvPr id="11" name="Image 6" descr="gen-dedup-12865b7249fbd2e26d66191c271c5d32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1143000" y="2438705"/>
            <a:ext cx="16002000" cy="9144"/>
          </a:xfrm>
          <a:prstGeom prst="rect">
            <a:avLst/>
          </a:prstGeom>
        </p:spPr>
      </p:pic>
      <p:sp>
        <p:nvSpPr>
          <p:cNvPr id="12" name="Shape 3"/>
          <p:cNvSpPr/>
          <p:nvPr/>
        </p:nvSpPr>
        <p:spPr>
          <a:xfrm>
            <a:off x="16974007" y="7696505"/>
            <a:ext cx="286207" cy="286207"/>
          </a:xfrm>
          <a:custGeom>
            <a:avLst/>
            <a:gdLst/>
            <a:ahLst/>
            <a:cxnLst/>
            <a:rect l="l" t="t" r="r" b="b"/>
            <a:pathLst>
              <a:path w="286207" h="286207">
                <a:moveTo>
                  <a:pt x="0" y="0"/>
                </a:moveTo>
                <a:lnTo>
                  <a:pt x="286207" y="143104"/>
                </a:lnTo>
                <a:lnTo>
                  <a:pt x="0" y="286207"/>
                </a:lnTo>
                <a:close/>
              </a:path>
            </a:pathLst>
          </a:custGeom>
          <a:solidFill>
            <a:srgbClr val="0B24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4"/>
          <p:cNvSpPr txBox="1"/>
          <p:nvPr/>
        </p:nvSpPr>
        <p:spPr>
          <a:xfrm>
            <a:off x="1143000" y="819302"/>
            <a:ext cx="66678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429" dirty="0">
                <a:solidFill>
                  <a:srgbClr val="C08B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APPROACH</a:t>
            </a:r>
            <a:endParaRPr lang="en-US" sz="1650" dirty="0"/>
          </a:p>
        </p:txBody>
      </p:sp>
      <p:sp>
        <p:nvSpPr>
          <p:cNvPr id="14" name="Text 5"/>
          <p:cNvSpPr txBox="1"/>
          <p:nvPr/>
        </p:nvSpPr>
        <p:spPr>
          <a:xfrm>
            <a:off x="1143000" y="1218895"/>
            <a:ext cx="1143000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72" dirty="0">
                <a:solidFill>
                  <a:srgbClr val="0B244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proven four-pillar framework</a:t>
            </a:r>
            <a:endParaRPr lang="en-US" sz="4800" dirty="0"/>
          </a:p>
        </p:txBody>
      </p:sp>
      <p:sp>
        <p:nvSpPr>
          <p:cNvPr id="15" name="Text 6"/>
          <p:cNvSpPr txBox="1"/>
          <p:nvPr/>
        </p:nvSpPr>
        <p:spPr>
          <a:xfrm>
            <a:off x="13258800" y="1314907"/>
            <a:ext cx="388620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E4B84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“Manage by Metrics”</a:t>
            </a:r>
            <a:r>
              <a:rPr lang="en-US" sz="1350" b="1" dirty="0">
                <a:solidFill>
                  <a:srgbClr val="BFCB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OPERATING DISCIPLINE</a:t>
            </a:r>
            <a:endParaRPr lang="en-US" sz="2400" dirty="0"/>
          </a:p>
        </p:txBody>
      </p:sp>
      <p:sp>
        <p:nvSpPr>
          <p:cNvPr id="16" name="Text 7"/>
          <p:cNvSpPr txBox="1"/>
          <p:nvPr/>
        </p:nvSpPr>
        <p:spPr>
          <a:xfrm>
            <a:off x="1485900" y="3219602"/>
            <a:ext cx="308610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08B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</a:t>
            </a:r>
            <a:endParaRPr lang="en-US" sz="2250" dirty="0"/>
          </a:p>
        </p:txBody>
      </p:sp>
      <p:sp>
        <p:nvSpPr>
          <p:cNvPr id="17" name="Text 8"/>
          <p:cNvSpPr txBox="1"/>
          <p:nvPr/>
        </p:nvSpPr>
        <p:spPr>
          <a:xfrm>
            <a:off x="1485900" y="3743554"/>
            <a:ext cx="3327502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Cost Optimisation</a:t>
            </a:r>
            <a:endParaRPr lang="en-US" sz="2400" dirty="0"/>
          </a:p>
        </p:txBody>
      </p:sp>
      <p:pic>
        <p:nvPicPr>
          <p:cNvPr id="18" name="Image 7" descr="gen-dedup-ce3897fcf9d21fbb191b45ea05c049bb.png"/>
          <p:cNvPicPr>
            <a:picLocks noChangeAspect="1"/>
          </p:cNvPicPr>
          <p:nvPr/>
        </p:nvPicPr>
        <p:blipFill>
          <a:blip r:embed="rId8"/>
          <a:srcRect t="-369" b="-369"/>
          <a:stretch/>
        </p:blipFill>
        <p:spPr>
          <a:xfrm>
            <a:off x="1485900" y="4305910"/>
            <a:ext cx="495605" cy="19202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1485900" y="4515307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Automation of high-volume, rules-based work</a:t>
            </a:r>
            <a:endParaRPr lang="en-US" sz="1725" dirty="0"/>
          </a:p>
        </p:txBody>
      </p:sp>
      <p:sp>
        <p:nvSpPr>
          <p:cNvPr id="20" name="Text 10"/>
          <p:cNvSpPr txBox="1"/>
          <p:nvPr/>
        </p:nvSpPr>
        <p:spPr>
          <a:xfrm>
            <a:off x="1485900" y="5318150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End-to-end process reengineering</a:t>
            </a:r>
            <a:endParaRPr lang="en-US" sz="1725" dirty="0"/>
          </a:p>
        </p:txBody>
      </p:sp>
      <p:sp>
        <p:nvSpPr>
          <p:cNvPr id="21" name="Text 11"/>
          <p:cNvSpPr txBox="1"/>
          <p:nvPr/>
        </p:nvSpPr>
        <p:spPr>
          <a:xfrm>
            <a:off x="1485900" y="6120994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Outcome-based costing and unit-cost discipline</a:t>
            </a:r>
            <a:endParaRPr lang="en-US" sz="1725" dirty="0"/>
          </a:p>
        </p:txBody>
      </p:sp>
      <p:sp>
        <p:nvSpPr>
          <p:cNvPr id="22" name="Text 12"/>
          <p:cNvSpPr txBox="1"/>
          <p:nvPr/>
        </p:nvSpPr>
        <p:spPr>
          <a:xfrm>
            <a:off x="5562295" y="3219602"/>
            <a:ext cx="308610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08B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II</a:t>
            </a:r>
            <a:endParaRPr lang="en-US" sz="2250" dirty="0"/>
          </a:p>
        </p:txBody>
      </p:sp>
      <p:sp>
        <p:nvSpPr>
          <p:cNvPr id="23" name="Text 13"/>
          <p:cNvSpPr txBox="1"/>
          <p:nvPr/>
        </p:nvSpPr>
        <p:spPr>
          <a:xfrm>
            <a:off x="5562295" y="3743554"/>
            <a:ext cx="308610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0B24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Digital Transformation</a:t>
            </a:r>
            <a:endParaRPr lang="en-US" sz="2400" dirty="0"/>
          </a:p>
        </p:txBody>
      </p:sp>
      <p:pic>
        <p:nvPicPr>
          <p:cNvPr id="24" name="Image 8" descr="gen-dedup-ce3897fcf9d21fbb191b45ea05c049bb.png"/>
          <p:cNvPicPr>
            <a:picLocks noChangeAspect="1"/>
          </p:cNvPicPr>
          <p:nvPr/>
        </p:nvPicPr>
        <p:blipFill>
          <a:blip r:embed="rId8"/>
          <a:srcRect t="-369" b="-369"/>
          <a:stretch/>
        </p:blipFill>
        <p:spPr>
          <a:xfrm>
            <a:off x="5562295" y="4677156"/>
            <a:ext cx="495605" cy="19202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5562295" y="4886554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Sigma rigour applied to service design</a:t>
            </a:r>
            <a:endParaRPr lang="en-US" sz="1725" dirty="0"/>
          </a:p>
        </p:txBody>
      </p:sp>
      <p:sp>
        <p:nvSpPr>
          <p:cNvPr id="26" name="Text 15"/>
          <p:cNvSpPr txBox="1"/>
          <p:nvPr/>
        </p:nvSpPr>
        <p:spPr>
          <a:xfrm>
            <a:off x="5562295" y="5690311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RPA and workflow automation at scale</a:t>
            </a:r>
            <a:endParaRPr lang="en-US" sz="1725" dirty="0"/>
          </a:p>
        </p:txBody>
      </p:sp>
      <p:sp>
        <p:nvSpPr>
          <p:cNvPr id="27" name="Text 16"/>
          <p:cNvSpPr txBox="1"/>
          <p:nvPr/>
        </p:nvSpPr>
        <p:spPr>
          <a:xfrm>
            <a:off x="5562295" y="6493154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Analytics-driven decisions, not report packs</a:t>
            </a:r>
            <a:endParaRPr lang="en-US" sz="1725" dirty="0"/>
          </a:p>
        </p:txBody>
      </p:sp>
      <p:sp>
        <p:nvSpPr>
          <p:cNvPr id="28" name="Text 17"/>
          <p:cNvSpPr txBox="1"/>
          <p:nvPr/>
        </p:nvSpPr>
        <p:spPr>
          <a:xfrm>
            <a:off x="9639605" y="3219602"/>
            <a:ext cx="308610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08B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III</a:t>
            </a:r>
            <a:endParaRPr lang="en-US" sz="2250" dirty="0"/>
          </a:p>
        </p:txBody>
      </p:sp>
      <p:sp>
        <p:nvSpPr>
          <p:cNvPr id="29" name="Text 18"/>
          <p:cNvSpPr txBox="1"/>
          <p:nvPr/>
        </p:nvSpPr>
        <p:spPr>
          <a:xfrm>
            <a:off x="9639605" y="3743554"/>
            <a:ext cx="3327502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Talent Excellence</a:t>
            </a:r>
            <a:endParaRPr lang="en-US" sz="2400" dirty="0"/>
          </a:p>
        </p:txBody>
      </p:sp>
      <p:pic>
        <p:nvPicPr>
          <p:cNvPr id="30" name="Image 9" descr="gen-dedup-ce3897fcf9d21fbb191b45ea05c049bb.png"/>
          <p:cNvPicPr>
            <a:picLocks noChangeAspect="1"/>
          </p:cNvPicPr>
          <p:nvPr/>
        </p:nvPicPr>
        <p:blipFill>
          <a:blip r:embed="rId8"/>
          <a:srcRect t="-369" b="-369"/>
          <a:stretch/>
        </p:blipFill>
        <p:spPr>
          <a:xfrm>
            <a:off x="9639605" y="4305910"/>
            <a:ext cx="495605" cy="19202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9639605" y="4515307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High-performance teams with an ownership mindset</a:t>
            </a:r>
            <a:endParaRPr lang="en-US" sz="1725" dirty="0"/>
          </a:p>
        </p:txBody>
      </p:sp>
      <p:sp>
        <p:nvSpPr>
          <p:cNvPr id="32" name="Text 20"/>
          <p:cNvSpPr txBox="1"/>
          <p:nvPr/>
        </p:nvSpPr>
        <p:spPr>
          <a:xfrm>
            <a:off x="9639605" y="5318150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Capability build over headcount build</a:t>
            </a:r>
            <a:endParaRPr lang="en-US" sz="1725" dirty="0"/>
          </a:p>
        </p:txBody>
      </p:sp>
      <p:sp>
        <p:nvSpPr>
          <p:cNvPr id="33" name="Text 21"/>
          <p:cNvSpPr txBox="1"/>
          <p:nvPr/>
        </p:nvSpPr>
        <p:spPr>
          <a:xfrm>
            <a:off x="9639605" y="6120994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Retention through career architecture</a:t>
            </a:r>
            <a:endParaRPr lang="en-US" sz="1725" dirty="0"/>
          </a:p>
        </p:txBody>
      </p:sp>
      <p:sp>
        <p:nvSpPr>
          <p:cNvPr id="34" name="Text 22"/>
          <p:cNvSpPr txBox="1"/>
          <p:nvPr/>
        </p:nvSpPr>
        <p:spPr>
          <a:xfrm>
            <a:off x="13716000" y="3219602"/>
            <a:ext cx="308610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E4B84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IV</a:t>
            </a:r>
            <a:endParaRPr lang="en-US" sz="2250" dirty="0"/>
          </a:p>
        </p:txBody>
      </p:sp>
      <p:sp>
        <p:nvSpPr>
          <p:cNvPr id="35" name="Text 23"/>
          <p:cNvSpPr txBox="1"/>
          <p:nvPr/>
        </p:nvSpPr>
        <p:spPr>
          <a:xfrm>
            <a:off x="13716000" y="3743554"/>
            <a:ext cx="308610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Strategic Business Partnering</a:t>
            </a:r>
            <a:endParaRPr lang="en-US" sz="2400" dirty="0"/>
          </a:p>
        </p:txBody>
      </p:sp>
      <p:pic>
        <p:nvPicPr>
          <p:cNvPr id="36" name="Image 10" descr="gen-dedup-70f9342932f7f08693507aa2016f56ac.png"/>
          <p:cNvPicPr>
            <a:picLocks noChangeAspect="1"/>
          </p:cNvPicPr>
          <p:nvPr/>
        </p:nvPicPr>
        <p:blipFill>
          <a:blip r:embed="rId9"/>
          <a:srcRect t="-369" b="-369"/>
          <a:stretch/>
        </p:blipFill>
        <p:spPr>
          <a:xfrm>
            <a:off x="13716000" y="4677156"/>
            <a:ext cx="495605" cy="19202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13716000" y="4886554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C6D2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transaction processing to value creation</a:t>
            </a:r>
            <a:endParaRPr lang="en-US" sz="1725" dirty="0"/>
          </a:p>
        </p:txBody>
      </p:sp>
      <p:sp>
        <p:nvSpPr>
          <p:cNvPr id="38" name="Text 25"/>
          <p:cNvSpPr txBox="1"/>
          <p:nvPr/>
        </p:nvSpPr>
        <p:spPr>
          <a:xfrm>
            <a:off x="13716000" y="5690311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C6D2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Insight embedded with the business owner</a:t>
            </a:r>
            <a:endParaRPr lang="en-US" sz="1725" dirty="0"/>
          </a:p>
        </p:txBody>
      </p:sp>
      <p:sp>
        <p:nvSpPr>
          <p:cNvPr id="39" name="Text 26"/>
          <p:cNvSpPr txBox="1"/>
          <p:nvPr/>
        </p:nvSpPr>
        <p:spPr>
          <a:xfrm>
            <a:off x="13716000" y="6493154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C6D2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Decisions supported, not just data supplied</a:t>
            </a:r>
            <a:endParaRPr lang="en-US" sz="1725" dirty="0"/>
          </a:p>
        </p:txBody>
      </p:sp>
      <p:sp>
        <p:nvSpPr>
          <p:cNvPr id="40" name="Text 27"/>
          <p:cNvSpPr txBox="1"/>
          <p:nvPr/>
        </p:nvSpPr>
        <p:spPr>
          <a:xfrm>
            <a:off x="1143000" y="8096098"/>
            <a:ext cx="5715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8B85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EFFICIENCY</a:t>
            </a:r>
            <a:endParaRPr lang="en-US" sz="1650" dirty="0"/>
          </a:p>
        </p:txBody>
      </p:sp>
      <p:sp>
        <p:nvSpPr>
          <p:cNvPr id="41" name="Text 28"/>
          <p:cNvSpPr txBox="1"/>
          <p:nvPr/>
        </p:nvSpPr>
        <p:spPr>
          <a:xfrm>
            <a:off x="11430000" y="8096098"/>
            <a:ext cx="5715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50" kern="0" spc="264" dirty="0">
                <a:solidFill>
                  <a:srgbClr val="0B24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STRATEGIC INFLUENCE</a:t>
            </a:r>
            <a:endParaRPr lang="en-US" sz="1650" dirty="0"/>
          </a:p>
        </p:txBody>
      </p:sp>
      <p:sp>
        <p:nvSpPr>
          <p:cNvPr id="42" name="Text 29"/>
          <p:cNvSpPr txBox="1"/>
          <p:nvPr/>
        </p:nvSpPr>
        <p:spPr>
          <a:xfrm>
            <a:off x="1505102" y="8896198"/>
            <a:ext cx="159261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0B244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Every pillar carries a metric, an owner and a review cadence — that is what makes the gains stick.</a:t>
            </a:r>
            <a:endParaRPr lang="en-US" sz="2325" dirty="0"/>
          </a:p>
        </p:txBody>
      </p:sp>
      <p:sp>
        <p:nvSpPr>
          <p:cNvPr id="43" name="Text 30"/>
          <p:cNvSpPr txBox="1"/>
          <p:nvPr/>
        </p:nvSpPr>
        <p:spPr>
          <a:xfrm>
            <a:off x="1143000" y="9715500"/>
            <a:ext cx="8572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8B85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GOSECURE CONSULTING</a:t>
            </a:r>
            <a:endParaRPr lang="en-US" sz="1350" dirty="0"/>
          </a:p>
        </p:txBody>
      </p:sp>
      <p:sp>
        <p:nvSpPr>
          <p:cNvPr id="44" name="Text 31"/>
          <p:cNvSpPr txBox="1"/>
          <p:nvPr/>
        </p:nvSpPr>
        <p:spPr>
          <a:xfrm>
            <a:off x="16192195" y="9715500"/>
            <a:ext cx="952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8B85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468197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258800" y="1143000"/>
            <a:ext cx="3886200" cy="914400"/>
          </a:xfrm>
          <a:prstGeom prst="rect">
            <a:avLst/>
          </a:prstGeom>
          <a:solidFill>
            <a:srgbClr val="0B24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gen-dedup-02046f75d0f14ecc31dea06f352883f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43000" y="2857500"/>
            <a:ext cx="3771900" cy="4686300"/>
          </a:xfrm>
          <a:prstGeom prst="rect">
            <a:avLst/>
          </a:prstGeom>
        </p:spPr>
      </p:pic>
      <p:pic>
        <p:nvPicPr>
          <p:cNvPr id="4" name="Image 1" descr="gen-dedup-02046f75d0f14ecc31dea06f352883f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19395" y="2857500"/>
            <a:ext cx="3771900" cy="4686300"/>
          </a:xfrm>
          <a:prstGeom prst="rect">
            <a:avLst/>
          </a:prstGeom>
        </p:spPr>
      </p:pic>
      <p:pic>
        <p:nvPicPr>
          <p:cNvPr id="5" name="Image 2" descr="gen-dedup-02046f75d0f14ecc31dea06f352883f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96705" y="2857500"/>
            <a:ext cx="3771900" cy="4686300"/>
          </a:xfrm>
          <a:prstGeom prst="rect">
            <a:avLst/>
          </a:prstGeom>
        </p:spPr>
      </p:pic>
      <p:pic>
        <p:nvPicPr>
          <p:cNvPr id="6" name="Image 3" descr="gen-dedup-b2dbdafbe7e793a0fec26e5a54862ad5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373100" y="2857500"/>
            <a:ext cx="3771900" cy="4686300"/>
          </a:xfrm>
          <a:prstGeom prst="rect">
            <a:avLst/>
          </a:prstGeom>
        </p:spPr>
      </p:pic>
      <p:pic>
        <p:nvPicPr>
          <p:cNvPr id="7" name="Image 4" descr="gen-dedup-0bb7e9b0c6e941b0973e83d400a130fa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143000" y="7810805"/>
            <a:ext cx="16002000" cy="57607"/>
          </a:xfrm>
          <a:prstGeom prst="rect">
            <a:avLst/>
          </a:prstGeom>
        </p:spPr>
      </p:pic>
      <p:sp>
        <p:nvSpPr>
          <p:cNvPr id="8" name="Shape 1"/>
          <p:cNvSpPr/>
          <p:nvPr/>
        </p:nvSpPr>
        <p:spPr>
          <a:xfrm>
            <a:off x="1143000" y="8686800"/>
            <a:ext cx="16059607" cy="761695"/>
          </a:xfrm>
          <a:prstGeom prst="rect">
            <a:avLst/>
          </a:prstGeom>
          <a:solidFill>
            <a:srgbClr val="EDE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2"/>
          <p:cNvSpPr/>
          <p:nvPr/>
        </p:nvSpPr>
        <p:spPr>
          <a:xfrm>
            <a:off x="1143000" y="8686800"/>
            <a:ext cx="57607" cy="761695"/>
          </a:xfrm>
          <a:prstGeom prst="rect">
            <a:avLst/>
          </a:prstGeom>
          <a:solidFill>
            <a:srgbClr val="C08B2C"/>
          </a:solidFill>
          <a:ln w="12700">
            <a:solidFill>
              <a:srgbClr val="C08B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5" descr="gen-dedup-b333e7d3d8337a87e59bd373d3b0bba7.png"/>
          <p:cNvPicPr>
            <a:picLocks noChangeAspect="1"/>
          </p:cNvPicPr>
          <p:nvPr/>
        </p:nvPicPr>
        <p:blipFill>
          <a:blip r:embed="rId6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pic>
        <p:nvPicPr>
          <p:cNvPr id="11" name="Image 6" descr="gen-dedup-12865b7249fbd2e26d66191c271c5d32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1143000" y="2438705"/>
            <a:ext cx="16002000" cy="9144"/>
          </a:xfrm>
          <a:prstGeom prst="rect">
            <a:avLst/>
          </a:prstGeom>
        </p:spPr>
      </p:pic>
      <p:sp>
        <p:nvSpPr>
          <p:cNvPr id="12" name="Shape 3"/>
          <p:cNvSpPr/>
          <p:nvPr/>
        </p:nvSpPr>
        <p:spPr>
          <a:xfrm>
            <a:off x="16974007" y="7696505"/>
            <a:ext cx="286207" cy="286207"/>
          </a:xfrm>
          <a:custGeom>
            <a:avLst/>
            <a:gdLst/>
            <a:ahLst/>
            <a:cxnLst/>
            <a:rect l="l" t="t" r="r" b="b"/>
            <a:pathLst>
              <a:path w="286207" h="286207">
                <a:moveTo>
                  <a:pt x="0" y="0"/>
                </a:moveTo>
                <a:lnTo>
                  <a:pt x="286207" y="143104"/>
                </a:lnTo>
                <a:lnTo>
                  <a:pt x="0" y="286207"/>
                </a:lnTo>
                <a:close/>
              </a:path>
            </a:pathLst>
          </a:custGeom>
          <a:solidFill>
            <a:srgbClr val="0B24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4"/>
          <p:cNvSpPr txBox="1"/>
          <p:nvPr/>
        </p:nvSpPr>
        <p:spPr>
          <a:xfrm>
            <a:off x="1143000" y="819302"/>
            <a:ext cx="66678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429" dirty="0">
                <a:solidFill>
                  <a:srgbClr val="C08B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TRANSITION</a:t>
            </a:r>
          </a:p>
        </p:txBody>
      </p:sp>
      <p:sp>
        <p:nvSpPr>
          <p:cNvPr id="14" name="Text 5"/>
          <p:cNvSpPr txBox="1"/>
          <p:nvPr/>
        </p:nvSpPr>
        <p:spPr>
          <a:xfrm>
            <a:off x="1143000" y="1218895"/>
            <a:ext cx="1143000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72" dirty="0">
                <a:solidFill>
                  <a:srgbClr val="0B244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Steady it, then improve</a:t>
            </a:r>
          </a:p>
        </p:txBody>
      </p:sp>
      <p:sp>
        <p:nvSpPr>
          <p:cNvPr id="15" name="Text 6"/>
          <p:cNvSpPr txBox="1"/>
          <p:nvPr/>
        </p:nvSpPr>
        <p:spPr>
          <a:xfrm>
            <a:off x="13258800" y="1314907"/>
            <a:ext cx="388620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4B84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“No big bang”</a:t>
            </a:r>
          </a:p>
          <a:p>
            <a:pPr marL="0" indent="0" algn="ctr">
              <a:buNone/>
            </a:pPr>
            <a:r>
              <a:rPr lang="en-US" sz="1200" b="1" spc="120" dirty="0">
                <a:solidFill>
                  <a:srgbClr val="BFCB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PHASED, LOW-RISK</a:t>
            </a:r>
          </a:p>
        </p:txBody>
      </p:sp>
      <p:sp>
        <p:nvSpPr>
          <p:cNvPr id="16" name="Text 7"/>
          <p:cNvSpPr txBox="1"/>
          <p:nvPr/>
        </p:nvSpPr>
        <p:spPr>
          <a:xfrm>
            <a:off x="1485900" y="3219602"/>
            <a:ext cx="308610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08B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</a:t>
            </a:r>
            <a:endParaRPr lang="en-US" sz="2250" dirty="0"/>
          </a:p>
        </p:txBody>
      </p:sp>
      <p:sp>
        <p:nvSpPr>
          <p:cNvPr id="17" name="Text 8"/>
          <p:cNvSpPr txBox="1"/>
          <p:nvPr/>
        </p:nvSpPr>
        <p:spPr>
          <a:xfrm>
            <a:off x="1485900" y="3743554"/>
            <a:ext cx="3327502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0B24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Stabilise</a:t>
            </a:r>
          </a:p>
        </p:txBody>
      </p:sp>
      <p:pic>
        <p:nvPicPr>
          <p:cNvPr id="18" name="Image 7" descr="gen-dedup-ce3897fcf9d21fbb191b45ea05c049bb.png"/>
          <p:cNvPicPr>
            <a:picLocks noChangeAspect="1"/>
          </p:cNvPicPr>
          <p:nvPr/>
        </p:nvPicPr>
        <p:blipFill>
          <a:blip r:embed="rId8"/>
          <a:srcRect t="-369" b="-369"/>
          <a:stretch/>
        </p:blipFill>
        <p:spPr>
          <a:xfrm>
            <a:off x="1485900" y="4305910"/>
            <a:ext cx="495605" cy="19202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1485900" y="4515307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Ring-fence BAU — zero service disruption</a:t>
            </a:r>
          </a:p>
        </p:txBody>
      </p:sp>
      <p:sp>
        <p:nvSpPr>
          <p:cNvPr id="20" name="Text 10"/>
          <p:cNvSpPr txBox="1"/>
          <p:nvPr/>
        </p:nvSpPr>
        <p:spPr>
          <a:xfrm>
            <a:off x="1485900" y="5318150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Capture knowledge; shadow key roles</a:t>
            </a:r>
          </a:p>
        </p:txBody>
      </p:sp>
      <p:sp>
        <p:nvSpPr>
          <p:cNvPr id="21" name="Text 11"/>
          <p:cNvSpPr txBox="1"/>
          <p:nvPr/>
        </p:nvSpPr>
        <p:spPr>
          <a:xfrm>
            <a:off x="1485900" y="6120994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Baseline every process and metric</a:t>
            </a:r>
          </a:p>
        </p:txBody>
      </p:sp>
      <p:sp>
        <p:nvSpPr>
          <p:cNvPr id="22" name="Text 12"/>
          <p:cNvSpPr txBox="1"/>
          <p:nvPr/>
        </p:nvSpPr>
        <p:spPr>
          <a:xfrm>
            <a:off x="5562295" y="3219602"/>
            <a:ext cx="308610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08B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II</a:t>
            </a:r>
            <a:endParaRPr lang="en-US" sz="2250" dirty="0"/>
          </a:p>
        </p:txBody>
      </p:sp>
      <p:sp>
        <p:nvSpPr>
          <p:cNvPr id="23" name="Text 13"/>
          <p:cNvSpPr txBox="1"/>
          <p:nvPr/>
        </p:nvSpPr>
        <p:spPr>
          <a:xfrm>
            <a:off x="5562295" y="3743554"/>
            <a:ext cx="308610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0B24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Standardise</a:t>
            </a:r>
          </a:p>
        </p:txBody>
      </p:sp>
      <p:pic>
        <p:nvPicPr>
          <p:cNvPr id="24" name="Image 8" descr="gen-dedup-ce3897fcf9d21fbb191b45ea05c049bb.png"/>
          <p:cNvPicPr>
            <a:picLocks noChangeAspect="1"/>
          </p:cNvPicPr>
          <p:nvPr/>
        </p:nvPicPr>
        <p:blipFill>
          <a:blip r:embed="rId8"/>
          <a:srcRect t="-369" b="-369"/>
          <a:stretch/>
        </p:blipFill>
        <p:spPr>
          <a:xfrm>
            <a:off x="5562295" y="4305300"/>
            <a:ext cx="495605" cy="19202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5562295" y="4521200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documented playbook per process</a:t>
            </a:r>
          </a:p>
        </p:txBody>
      </p:sp>
      <p:sp>
        <p:nvSpPr>
          <p:cNvPr id="26" name="Text 15"/>
          <p:cNvSpPr txBox="1"/>
          <p:nvPr/>
        </p:nvSpPr>
        <p:spPr>
          <a:xfrm>
            <a:off x="5562295" y="5321300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Controls, SLAs and handoffs codified</a:t>
            </a:r>
          </a:p>
        </p:txBody>
      </p:sp>
      <p:sp>
        <p:nvSpPr>
          <p:cNvPr id="27" name="Text 16"/>
          <p:cNvSpPr txBox="1"/>
          <p:nvPr/>
        </p:nvSpPr>
        <p:spPr>
          <a:xfrm>
            <a:off x="5562295" y="6121400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Risks retired before we optimise</a:t>
            </a:r>
          </a:p>
        </p:txBody>
      </p:sp>
      <p:sp>
        <p:nvSpPr>
          <p:cNvPr id="28" name="Text 17"/>
          <p:cNvSpPr txBox="1"/>
          <p:nvPr/>
        </p:nvSpPr>
        <p:spPr>
          <a:xfrm>
            <a:off x="9639605" y="3219602"/>
            <a:ext cx="308610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08B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III</a:t>
            </a:r>
            <a:endParaRPr lang="en-US" sz="2250" dirty="0"/>
          </a:p>
        </p:txBody>
      </p:sp>
      <p:sp>
        <p:nvSpPr>
          <p:cNvPr id="29" name="Text 18"/>
          <p:cNvSpPr txBox="1"/>
          <p:nvPr/>
        </p:nvSpPr>
        <p:spPr>
          <a:xfrm>
            <a:off x="9639605" y="3743554"/>
            <a:ext cx="3327502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0B24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Optimise</a:t>
            </a:r>
          </a:p>
        </p:txBody>
      </p:sp>
      <p:pic>
        <p:nvPicPr>
          <p:cNvPr id="30" name="Image 9" descr="gen-dedup-ce3897fcf9d21fbb191b45ea05c049bb.png"/>
          <p:cNvPicPr>
            <a:picLocks noChangeAspect="1"/>
          </p:cNvPicPr>
          <p:nvPr/>
        </p:nvPicPr>
        <p:blipFill>
          <a:blip r:embed="rId8"/>
          <a:srcRect t="-369" b="-369"/>
          <a:stretch/>
        </p:blipFill>
        <p:spPr>
          <a:xfrm>
            <a:off x="9639605" y="4305910"/>
            <a:ext cx="495605" cy="19202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9639605" y="4515307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Automate high-volume, rules-based work</a:t>
            </a:r>
          </a:p>
        </p:txBody>
      </p:sp>
      <p:sp>
        <p:nvSpPr>
          <p:cNvPr id="32" name="Text 20"/>
          <p:cNvSpPr txBox="1"/>
          <p:nvPr/>
        </p:nvSpPr>
        <p:spPr>
          <a:xfrm>
            <a:off x="9639605" y="5318150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Strip out rework and unit-cost drag</a:t>
            </a:r>
          </a:p>
        </p:txBody>
      </p:sp>
      <p:sp>
        <p:nvSpPr>
          <p:cNvPr id="33" name="Text 21"/>
          <p:cNvSpPr txBox="1"/>
          <p:nvPr/>
        </p:nvSpPr>
        <p:spPr>
          <a:xfrm>
            <a:off x="9639605" y="6120994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Redirect effort to judgement work</a:t>
            </a:r>
          </a:p>
        </p:txBody>
      </p:sp>
      <p:sp>
        <p:nvSpPr>
          <p:cNvPr id="34" name="Text 22"/>
          <p:cNvSpPr txBox="1"/>
          <p:nvPr/>
        </p:nvSpPr>
        <p:spPr>
          <a:xfrm>
            <a:off x="13716000" y="3219602"/>
            <a:ext cx="308610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E4B84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IV</a:t>
            </a:r>
            <a:endParaRPr lang="en-US" sz="2250" dirty="0"/>
          </a:p>
        </p:txBody>
      </p:sp>
      <p:sp>
        <p:nvSpPr>
          <p:cNvPr id="35" name="Text 23"/>
          <p:cNvSpPr txBox="1"/>
          <p:nvPr/>
        </p:nvSpPr>
        <p:spPr>
          <a:xfrm>
            <a:off x="13716000" y="3743554"/>
            <a:ext cx="308610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Elevate</a:t>
            </a:r>
          </a:p>
        </p:txBody>
      </p:sp>
      <p:pic>
        <p:nvPicPr>
          <p:cNvPr id="36" name="Image 10" descr="gen-dedup-70f9342932f7f08693507aa2016f56ac.png"/>
          <p:cNvPicPr>
            <a:picLocks noChangeAspect="1"/>
          </p:cNvPicPr>
          <p:nvPr/>
        </p:nvPicPr>
        <p:blipFill>
          <a:blip r:embed="rId9"/>
          <a:srcRect t="-369" b="-369"/>
          <a:stretch/>
        </p:blipFill>
        <p:spPr>
          <a:xfrm>
            <a:off x="13716000" y="4305300"/>
            <a:ext cx="495605" cy="19202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13716000" y="4521200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C6D2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Insight and business partnering</a:t>
            </a:r>
          </a:p>
        </p:txBody>
      </p:sp>
      <p:sp>
        <p:nvSpPr>
          <p:cNvPr id="38" name="Text 25"/>
          <p:cNvSpPr txBox="1"/>
          <p:nvPr/>
        </p:nvSpPr>
        <p:spPr>
          <a:xfrm>
            <a:off x="13716000" y="5321300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C6D2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Continuous-improvement engine</a:t>
            </a:r>
          </a:p>
        </p:txBody>
      </p:sp>
      <p:sp>
        <p:nvSpPr>
          <p:cNvPr id="39" name="Text 26"/>
          <p:cNvSpPr txBox="1"/>
          <p:nvPr/>
        </p:nvSpPr>
        <p:spPr>
          <a:xfrm>
            <a:off x="13716000" y="6121400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C6D2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Innovation on a now-stable base</a:t>
            </a:r>
          </a:p>
        </p:txBody>
      </p:sp>
      <p:sp>
        <p:nvSpPr>
          <p:cNvPr id="40" name="Text 27"/>
          <p:cNvSpPr txBox="1"/>
          <p:nvPr/>
        </p:nvSpPr>
        <p:spPr>
          <a:xfrm>
            <a:off x="1143000" y="8096098"/>
            <a:ext cx="5715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8B85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DAY 0 · STABILISE</a:t>
            </a:r>
          </a:p>
        </p:txBody>
      </p:sp>
      <p:sp>
        <p:nvSpPr>
          <p:cNvPr id="41" name="Text 28"/>
          <p:cNvSpPr txBox="1"/>
          <p:nvPr/>
        </p:nvSpPr>
        <p:spPr>
          <a:xfrm>
            <a:off x="11430000" y="8096098"/>
            <a:ext cx="5715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50" kern="0" spc="264" dirty="0">
                <a:solidFill>
                  <a:srgbClr val="8B85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STEADY STATE · ELEVATE</a:t>
            </a:r>
          </a:p>
        </p:txBody>
      </p:sp>
      <p:sp>
        <p:nvSpPr>
          <p:cNvPr id="42" name="Text 29"/>
          <p:cNvSpPr txBox="1"/>
          <p:nvPr/>
        </p:nvSpPr>
        <p:spPr>
          <a:xfrm>
            <a:off x="1505102" y="8896198"/>
            <a:ext cx="159261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0B244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Value is banked at every stage — and each risk is retired before the next step begins.</a:t>
            </a:r>
          </a:p>
        </p:txBody>
      </p:sp>
      <p:sp>
        <p:nvSpPr>
          <p:cNvPr id="43" name="Text 30"/>
          <p:cNvSpPr txBox="1"/>
          <p:nvPr/>
        </p:nvSpPr>
        <p:spPr>
          <a:xfrm>
            <a:off x="1143000" y="9715500"/>
            <a:ext cx="8572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8B85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GOSECURE CONSULTING</a:t>
            </a:r>
            <a:endParaRPr lang="en-US" sz="1350" dirty="0"/>
          </a:p>
        </p:txBody>
      </p:sp>
      <p:sp>
        <p:nvSpPr>
          <p:cNvPr id="44" name="Text 31"/>
          <p:cNvSpPr txBox="1"/>
          <p:nvPr/>
        </p:nvSpPr>
        <p:spPr>
          <a:xfrm>
            <a:off x="16192195" y="9715500"/>
            <a:ext cx="952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8B85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097890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99e1ca420974d33c1b0c9369421a49f.png"/>
          <p:cNvPicPr>
            <a:picLocks noChangeAspect="1"/>
          </p:cNvPicPr>
          <p:nvPr/>
        </p:nvPicPr>
        <p:blipFill>
          <a:blip r:embed="rId3"/>
          <a:srcRect l="-3" r="-3"/>
          <a:stretch/>
        </p:blipFill>
        <p:spPr>
          <a:xfrm>
            <a:off x="1143000" y="2819095"/>
            <a:ext cx="7830007" cy="2743200"/>
          </a:xfrm>
          <a:prstGeom prst="rect">
            <a:avLst/>
          </a:prstGeom>
        </p:spPr>
      </p:pic>
      <p:pic>
        <p:nvPicPr>
          <p:cNvPr id="3" name="Image 1" descr="gen-dedup-999e1ca420974d33c1b0c9369421a49f.png"/>
          <p:cNvPicPr>
            <a:picLocks noChangeAspect="1"/>
          </p:cNvPicPr>
          <p:nvPr/>
        </p:nvPicPr>
        <p:blipFill>
          <a:blip r:embed="rId3"/>
          <a:srcRect l="-3" r="-3"/>
          <a:stretch/>
        </p:blipFill>
        <p:spPr>
          <a:xfrm>
            <a:off x="9372600" y="2819095"/>
            <a:ext cx="7830007" cy="2743200"/>
          </a:xfrm>
          <a:prstGeom prst="rect">
            <a:avLst/>
          </a:prstGeom>
        </p:spPr>
      </p:pic>
      <p:pic>
        <p:nvPicPr>
          <p:cNvPr id="4" name="Image 2" descr="gen-dedup-999e1ca420974d33c1b0c9369421a49f.png"/>
          <p:cNvPicPr>
            <a:picLocks noChangeAspect="1"/>
          </p:cNvPicPr>
          <p:nvPr/>
        </p:nvPicPr>
        <p:blipFill>
          <a:blip r:embed="rId3"/>
          <a:srcRect l="-3" r="-3"/>
          <a:stretch/>
        </p:blipFill>
        <p:spPr>
          <a:xfrm>
            <a:off x="1143000" y="5867705"/>
            <a:ext cx="7830007" cy="2743200"/>
          </a:xfrm>
          <a:prstGeom prst="rect">
            <a:avLst/>
          </a:prstGeom>
        </p:spPr>
      </p:pic>
      <p:pic>
        <p:nvPicPr>
          <p:cNvPr id="5" name="Image 3" descr="gen-dedup-d704440345c9430524bb6117eb211ef9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9372600" y="5867705"/>
            <a:ext cx="7830007" cy="2743200"/>
          </a:xfrm>
          <a:prstGeom prst="rect">
            <a:avLst/>
          </a:prstGeom>
        </p:spPr>
      </p:pic>
      <p:pic>
        <p:nvPicPr>
          <p:cNvPr id="6" name="Image 4" descr="gen-dedup-b333e7d3d8337a87e59bd373d3b0bba7.png"/>
          <p:cNvPicPr>
            <a:picLocks noChangeAspect="1"/>
          </p:cNvPicPr>
          <p:nvPr/>
        </p:nvPicPr>
        <p:blipFill>
          <a:blip r:embed="rId5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pic>
        <p:nvPicPr>
          <p:cNvPr id="7" name="Image 5" descr="gen-dedup-12865b7249fbd2e26d66191c271c5d32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143000" y="2343607"/>
            <a:ext cx="16002000" cy="9144"/>
          </a:xfrm>
          <a:prstGeom prst="rect">
            <a:avLst/>
          </a:prstGeom>
        </p:spPr>
      </p:pic>
      <p:pic>
        <p:nvPicPr>
          <p:cNvPr id="8" name="Image 6" descr="gen-dedup-12865b7249fbd2e26d66191c271c5d32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143000" y="8953805"/>
            <a:ext cx="16002000" cy="9144"/>
          </a:xfrm>
          <a:prstGeom prst="rect">
            <a:avLst/>
          </a:prstGeom>
        </p:spPr>
      </p:pic>
      <p:sp>
        <p:nvSpPr>
          <p:cNvPr id="9" name="Text 0"/>
          <p:cNvSpPr txBox="1"/>
          <p:nvPr/>
        </p:nvSpPr>
        <p:spPr>
          <a:xfrm>
            <a:off x="1143000" y="819302"/>
            <a:ext cx="66678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429" dirty="0">
                <a:solidFill>
                  <a:srgbClr val="C08B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ENGAGEMENT MODEL</a:t>
            </a:r>
          </a:p>
        </p:txBody>
      </p:sp>
      <p:sp>
        <p:nvSpPr>
          <p:cNvPr id="10" name="Text 1"/>
          <p:cNvSpPr txBox="1"/>
          <p:nvPr/>
        </p:nvSpPr>
        <p:spPr>
          <a:xfrm>
            <a:off x="1143000" y="1218895"/>
            <a:ext cx="11632997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72" dirty="0">
                <a:solidFill>
                  <a:srgbClr val="0B244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Built as a partner, not a vendor</a:t>
            </a:r>
          </a:p>
        </p:txBody>
      </p:sp>
      <p:sp>
        <p:nvSpPr>
          <p:cNvPr id="11" name="Text 2"/>
          <p:cNvSpPr txBox="1"/>
          <p:nvPr/>
        </p:nvSpPr>
        <p:spPr>
          <a:xfrm>
            <a:off x="12382805" y="1295705"/>
            <a:ext cx="47631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2610"/>
              </a:lnSpc>
              <a:buNone/>
            </a:pPr>
            <a:r>
              <a:rPr lang="en-US" sz="1800" dirty="0">
                <a:solidFill>
                  <a:srgbClr val="5A6B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Aligned to your outcomes — with real skin in the game.</a:t>
            </a:r>
          </a:p>
        </p:txBody>
      </p:sp>
      <p:sp>
        <p:nvSpPr>
          <p:cNvPr id="12" name="Text 3"/>
          <p:cNvSpPr txBox="1"/>
          <p:nvPr/>
        </p:nvSpPr>
        <p:spPr>
          <a:xfrm>
            <a:off x="1580998" y="3200400"/>
            <a:ext cx="31821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08B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950" dirty="0"/>
          </a:p>
        </p:txBody>
      </p:sp>
      <p:sp>
        <p:nvSpPr>
          <p:cNvPr id="13" name="Text 4"/>
          <p:cNvSpPr txBox="1"/>
          <p:nvPr/>
        </p:nvSpPr>
        <p:spPr>
          <a:xfrm>
            <a:off x="2042770" y="3105302"/>
            <a:ext cx="444307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24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Outcome-aligned commercials</a:t>
            </a:r>
          </a:p>
        </p:txBody>
      </p:sp>
      <p:sp>
        <p:nvSpPr>
          <p:cNvPr id="14" name="Text 5"/>
          <p:cNvSpPr txBox="1"/>
          <p:nvPr/>
        </p:nvSpPr>
        <p:spPr>
          <a:xfrm>
            <a:off x="1580998" y="3743554"/>
            <a:ext cx="695401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Fees linked to results, not effort. A portion of our economics is put at risk against the targets we sign up to.</a:t>
            </a:r>
          </a:p>
        </p:txBody>
      </p:sp>
      <p:sp>
        <p:nvSpPr>
          <p:cNvPr id="15" name="Text 6"/>
          <p:cNvSpPr txBox="1"/>
          <p:nvPr/>
        </p:nvSpPr>
        <p:spPr>
          <a:xfrm>
            <a:off x="1580998" y="5050231"/>
            <a:ext cx="6954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kern="0" spc="158" dirty="0">
                <a:solidFill>
                  <a:srgbClr val="8B85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PAID WHEN YOU WIN</a:t>
            </a:r>
          </a:p>
        </p:txBody>
      </p:sp>
      <p:sp>
        <p:nvSpPr>
          <p:cNvPr id="16" name="Text 7"/>
          <p:cNvSpPr txBox="1"/>
          <p:nvPr/>
        </p:nvSpPr>
        <p:spPr>
          <a:xfrm>
            <a:off x="9810598" y="3200400"/>
            <a:ext cx="31821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08B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950" dirty="0"/>
          </a:p>
        </p:txBody>
      </p:sp>
      <p:sp>
        <p:nvSpPr>
          <p:cNvPr id="17" name="Text 8"/>
          <p:cNvSpPr txBox="1"/>
          <p:nvPr/>
        </p:nvSpPr>
        <p:spPr>
          <a:xfrm>
            <a:off x="10272370" y="3105302"/>
            <a:ext cx="5080406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24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Embedded, not arm’s-length</a:t>
            </a:r>
          </a:p>
        </p:txBody>
      </p:sp>
      <p:sp>
        <p:nvSpPr>
          <p:cNvPr id="18" name="Text 9"/>
          <p:cNvSpPr txBox="1"/>
          <p:nvPr/>
        </p:nvSpPr>
        <p:spPr>
          <a:xfrm>
            <a:off x="9810598" y="3743554"/>
            <a:ext cx="695401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 work inside your teams and your cadence, transferring capability as we go — so the gains stay after we leave.</a:t>
            </a:r>
          </a:p>
        </p:txBody>
      </p:sp>
      <p:sp>
        <p:nvSpPr>
          <p:cNvPr id="19" name="Text 10"/>
          <p:cNvSpPr txBox="1"/>
          <p:nvPr/>
        </p:nvSpPr>
        <p:spPr>
          <a:xfrm>
            <a:off x="9810598" y="5050231"/>
            <a:ext cx="6954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kern="0" spc="158" dirty="0">
                <a:solidFill>
                  <a:srgbClr val="8B85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TEAM, EXTENDED</a:t>
            </a:r>
          </a:p>
        </p:txBody>
      </p:sp>
      <p:sp>
        <p:nvSpPr>
          <p:cNvPr id="20" name="Text 11"/>
          <p:cNvSpPr txBox="1"/>
          <p:nvPr/>
        </p:nvSpPr>
        <p:spPr>
          <a:xfrm>
            <a:off x="1580998" y="6248095"/>
            <a:ext cx="31821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08B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950" dirty="0"/>
          </a:p>
        </p:txBody>
      </p:sp>
      <p:sp>
        <p:nvSpPr>
          <p:cNvPr id="21" name="Text 12"/>
          <p:cNvSpPr txBox="1"/>
          <p:nvPr/>
        </p:nvSpPr>
        <p:spPr>
          <a:xfrm>
            <a:off x="2042770" y="6152998"/>
            <a:ext cx="4868266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24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Senior ownership</a:t>
            </a:r>
          </a:p>
        </p:txBody>
      </p:sp>
      <p:sp>
        <p:nvSpPr>
          <p:cNvPr id="22" name="Text 13"/>
          <p:cNvSpPr txBox="1"/>
          <p:nvPr/>
        </p:nvSpPr>
        <p:spPr>
          <a:xfrm>
            <a:off x="1580998" y="6791249"/>
            <a:ext cx="695401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principal owns the mandate end-to-end: one accountable contact, in the room where the decisions get made.</a:t>
            </a:r>
          </a:p>
        </p:txBody>
      </p:sp>
      <p:sp>
        <p:nvSpPr>
          <p:cNvPr id="23" name="Text 14"/>
          <p:cNvSpPr txBox="1"/>
          <p:nvPr/>
        </p:nvSpPr>
        <p:spPr>
          <a:xfrm>
            <a:off x="1580998" y="8097926"/>
            <a:ext cx="6954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kern="0" spc="158" dirty="0">
                <a:solidFill>
                  <a:srgbClr val="8B85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ACCOUNTABLE, NOT DELEGATED</a:t>
            </a:r>
          </a:p>
        </p:txBody>
      </p:sp>
      <p:sp>
        <p:nvSpPr>
          <p:cNvPr id="24" name="Text 15"/>
          <p:cNvSpPr txBox="1"/>
          <p:nvPr/>
        </p:nvSpPr>
        <p:spPr>
          <a:xfrm>
            <a:off x="9810598" y="6248095"/>
            <a:ext cx="31821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E4B84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</a:t>
            </a:r>
            <a:endParaRPr lang="en-US" sz="1950" dirty="0"/>
          </a:p>
        </p:txBody>
      </p:sp>
      <p:sp>
        <p:nvSpPr>
          <p:cNvPr id="25" name="Text 16"/>
          <p:cNvSpPr txBox="1"/>
          <p:nvPr/>
        </p:nvSpPr>
        <p:spPr>
          <a:xfrm>
            <a:off x="10272370" y="6152998"/>
            <a:ext cx="5505602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Flexible scope</a:t>
            </a:r>
          </a:p>
        </p:txBody>
      </p:sp>
      <p:sp>
        <p:nvSpPr>
          <p:cNvPr id="26" name="Text 17"/>
          <p:cNvSpPr txBox="1"/>
          <p:nvPr/>
        </p:nvSpPr>
        <p:spPr>
          <a:xfrm>
            <a:off x="9810598" y="6791249"/>
            <a:ext cx="6954012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C6D2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Engage one service line or the full stack, and scale as your maturity gap closes.</a:t>
            </a:r>
          </a:p>
        </p:txBody>
      </p:sp>
      <p:sp>
        <p:nvSpPr>
          <p:cNvPr id="27" name="Text 18"/>
          <p:cNvSpPr txBox="1"/>
          <p:nvPr/>
        </p:nvSpPr>
        <p:spPr>
          <a:xfrm>
            <a:off x="9810598" y="7732166"/>
            <a:ext cx="6954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kern="0" spc="158" dirty="0">
                <a:solidFill>
                  <a:srgbClr val="8FA2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SCOPED TO YOU</a:t>
            </a:r>
          </a:p>
        </p:txBody>
      </p:sp>
      <p:sp>
        <p:nvSpPr>
          <p:cNvPr id="28" name="Text 19"/>
          <p:cNvSpPr txBox="1"/>
          <p:nvPr/>
        </p:nvSpPr>
        <p:spPr>
          <a:xfrm>
            <a:off x="1143000" y="9219895"/>
            <a:ext cx="13335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0B244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measure of the partnership is the capability we leave behind.</a:t>
            </a:r>
          </a:p>
        </p:txBody>
      </p:sp>
      <p:sp>
        <p:nvSpPr>
          <p:cNvPr id="29" name="Text 20"/>
          <p:cNvSpPr txBox="1"/>
          <p:nvPr/>
        </p:nvSpPr>
        <p:spPr>
          <a:xfrm>
            <a:off x="16192195" y="9715500"/>
            <a:ext cx="952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8B85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202666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258800" y="1143000"/>
            <a:ext cx="3886200" cy="914400"/>
          </a:xfrm>
          <a:prstGeom prst="rect">
            <a:avLst/>
          </a:prstGeom>
          <a:solidFill>
            <a:srgbClr val="0B24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gen-dedup-02046f75d0f14ecc31dea06f352883f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43000" y="2857500"/>
            <a:ext cx="3771900" cy="4686300"/>
          </a:xfrm>
          <a:prstGeom prst="rect">
            <a:avLst/>
          </a:prstGeom>
        </p:spPr>
      </p:pic>
      <p:pic>
        <p:nvPicPr>
          <p:cNvPr id="4" name="Image 1" descr="gen-dedup-02046f75d0f14ecc31dea06f352883f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19395" y="2857500"/>
            <a:ext cx="3771900" cy="4686300"/>
          </a:xfrm>
          <a:prstGeom prst="rect">
            <a:avLst/>
          </a:prstGeom>
        </p:spPr>
      </p:pic>
      <p:pic>
        <p:nvPicPr>
          <p:cNvPr id="5" name="Image 2" descr="gen-dedup-02046f75d0f14ecc31dea06f352883f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96705" y="2857500"/>
            <a:ext cx="3771900" cy="4686300"/>
          </a:xfrm>
          <a:prstGeom prst="rect">
            <a:avLst/>
          </a:prstGeom>
        </p:spPr>
      </p:pic>
      <p:pic>
        <p:nvPicPr>
          <p:cNvPr id="6" name="Image 3" descr="gen-dedup-b2dbdafbe7e793a0fec26e5a54862ad5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373100" y="2857500"/>
            <a:ext cx="3771900" cy="4686300"/>
          </a:xfrm>
          <a:prstGeom prst="rect">
            <a:avLst/>
          </a:prstGeom>
        </p:spPr>
      </p:pic>
      <p:pic>
        <p:nvPicPr>
          <p:cNvPr id="7" name="Image 4" descr="gen-dedup-0bb7e9b0c6e941b0973e83d400a130fa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143000" y="7810805"/>
            <a:ext cx="16002000" cy="57607"/>
          </a:xfrm>
          <a:prstGeom prst="rect">
            <a:avLst/>
          </a:prstGeom>
        </p:spPr>
      </p:pic>
      <p:sp>
        <p:nvSpPr>
          <p:cNvPr id="8" name="Shape 1"/>
          <p:cNvSpPr/>
          <p:nvPr/>
        </p:nvSpPr>
        <p:spPr>
          <a:xfrm>
            <a:off x="1143000" y="8686800"/>
            <a:ext cx="16059607" cy="761695"/>
          </a:xfrm>
          <a:prstGeom prst="rect">
            <a:avLst/>
          </a:prstGeom>
          <a:solidFill>
            <a:srgbClr val="EDE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2"/>
          <p:cNvSpPr/>
          <p:nvPr/>
        </p:nvSpPr>
        <p:spPr>
          <a:xfrm>
            <a:off x="1143000" y="8686800"/>
            <a:ext cx="57607" cy="761695"/>
          </a:xfrm>
          <a:prstGeom prst="rect">
            <a:avLst/>
          </a:prstGeom>
          <a:solidFill>
            <a:srgbClr val="C08B2C"/>
          </a:solidFill>
          <a:ln w="12700">
            <a:solidFill>
              <a:srgbClr val="C08B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5" descr="gen-dedup-b333e7d3d8337a87e59bd373d3b0bba7.png"/>
          <p:cNvPicPr>
            <a:picLocks noChangeAspect="1"/>
          </p:cNvPicPr>
          <p:nvPr/>
        </p:nvPicPr>
        <p:blipFill>
          <a:blip r:embed="rId6"/>
          <a:srcRect l="-201" r="-201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pic>
        <p:nvPicPr>
          <p:cNvPr id="11" name="Image 6" descr="gen-dedup-12865b7249fbd2e26d66191c271c5d32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1143000" y="2438705"/>
            <a:ext cx="16002000" cy="9144"/>
          </a:xfrm>
          <a:prstGeom prst="rect">
            <a:avLst/>
          </a:prstGeom>
        </p:spPr>
      </p:pic>
      <p:sp>
        <p:nvSpPr>
          <p:cNvPr id="12" name="Shape 3"/>
          <p:cNvSpPr/>
          <p:nvPr/>
        </p:nvSpPr>
        <p:spPr>
          <a:xfrm>
            <a:off x="16974007" y="7696505"/>
            <a:ext cx="286207" cy="286207"/>
          </a:xfrm>
          <a:custGeom>
            <a:avLst/>
            <a:gdLst/>
            <a:ahLst/>
            <a:cxnLst/>
            <a:rect l="l" t="t" r="r" b="b"/>
            <a:pathLst>
              <a:path w="286207" h="286207">
                <a:moveTo>
                  <a:pt x="0" y="0"/>
                </a:moveTo>
                <a:lnTo>
                  <a:pt x="286207" y="143104"/>
                </a:lnTo>
                <a:lnTo>
                  <a:pt x="0" y="286207"/>
                </a:lnTo>
                <a:close/>
              </a:path>
            </a:pathLst>
          </a:custGeom>
          <a:solidFill>
            <a:srgbClr val="0B24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4"/>
          <p:cNvSpPr txBox="1"/>
          <p:nvPr/>
        </p:nvSpPr>
        <p:spPr>
          <a:xfrm>
            <a:off x="1143000" y="819302"/>
            <a:ext cx="66678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429" dirty="0">
                <a:solidFill>
                  <a:srgbClr val="C08B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METRICS &amp; TRANSPARENCY</a:t>
            </a:r>
          </a:p>
        </p:txBody>
      </p:sp>
      <p:sp>
        <p:nvSpPr>
          <p:cNvPr id="14" name="Text 5"/>
          <p:cNvSpPr txBox="1"/>
          <p:nvPr/>
        </p:nvSpPr>
        <p:spPr>
          <a:xfrm>
            <a:off x="1143000" y="1218895"/>
            <a:ext cx="1143000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72" dirty="0">
                <a:solidFill>
                  <a:srgbClr val="0B244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Managed by metrics, seen by all</a:t>
            </a:r>
          </a:p>
        </p:txBody>
      </p:sp>
      <p:sp>
        <p:nvSpPr>
          <p:cNvPr id="15" name="Text 6"/>
          <p:cNvSpPr txBox="1"/>
          <p:nvPr/>
        </p:nvSpPr>
        <p:spPr>
          <a:xfrm>
            <a:off x="13258800" y="1314907"/>
            <a:ext cx="388620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4B84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“One truth”</a:t>
            </a:r>
          </a:p>
          <a:p>
            <a:pPr marL="0" indent="0" algn="ctr">
              <a:buNone/>
            </a:pPr>
            <a:r>
              <a:rPr lang="en-US" sz="1200" b="1" spc="120" dirty="0">
                <a:solidFill>
                  <a:srgbClr val="BFCB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LIVE, NOT MONTHLY</a:t>
            </a:r>
          </a:p>
        </p:txBody>
      </p:sp>
      <p:sp>
        <p:nvSpPr>
          <p:cNvPr id="16" name="Text 7"/>
          <p:cNvSpPr txBox="1"/>
          <p:nvPr/>
        </p:nvSpPr>
        <p:spPr>
          <a:xfrm>
            <a:off x="1485900" y="3219602"/>
            <a:ext cx="308610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08B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</a:t>
            </a:r>
            <a:endParaRPr lang="en-US" sz="2250" dirty="0"/>
          </a:p>
        </p:txBody>
      </p:sp>
      <p:sp>
        <p:nvSpPr>
          <p:cNvPr id="17" name="Text 8"/>
          <p:cNvSpPr txBox="1"/>
          <p:nvPr/>
        </p:nvSpPr>
        <p:spPr>
          <a:xfrm>
            <a:off x="1485900" y="3743554"/>
            <a:ext cx="3327502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0B24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Instrument</a:t>
            </a:r>
          </a:p>
        </p:txBody>
      </p:sp>
      <p:pic>
        <p:nvPicPr>
          <p:cNvPr id="18" name="Image 7" descr="gen-dedup-ce3897fcf9d21fbb191b45ea05c049bb.png"/>
          <p:cNvPicPr>
            <a:picLocks noChangeAspect="1"/>
          </p:cNvPicPr>
          <p:nvPr/>
        </p:nvPicPr>
        <p:blipFill>
          <a:blip r:embed="rId8"/>
          <a:srcRect t="-369" b="-369"/>
          <a:stretch/>
        </p:blipFill>
        <p:spPr>
          <a:xfrm>
            <a:off x="1485900" y="4305910"/>
            <a:ext cx="495605" cy="19202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1485900" y="4515307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agreed metric per process</a:t>
            </a:r>
          </a:p>
        </p:txBody>
      </p:sp>
      <p:sp>
        <p:nvSpPr>
          <p:cNvPr id="20" name="Text 10"/>
          <p:cNvSpPr txBox="1"/>
          <p:nvPr/>
        </p:nvSpPr>
        <p:spPr>
          <a:xfrm>
            <a:off x="1485900" y="5318150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Definitions locked and versioned</a:t>
            </a:r>
          </a:p>
        </p:txBody>
      </p:sp>
      <p:sp>
        <p:nvSpPr>
          <p:cNvPr id="21" name="Text 11"/>
          <p:cNvSpPr txBox="1"/>
          <p:nvPr/>
        </p:nvSpPr>
        <p:spPr>
          <a:xfrm>
            <a:off x="1485900" y="6120994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captured automatically</a:t>
            </a:r>
          </a:p>
        </p:txBody>
      </p:sp>
      <p:sp>
        <p:nvSpPr>
          <p:cNvPr id="22" name="Text 12"/>
          <p:cNvSpPr txBox="1"/>
          <p:nvPr/>
        </p:nvSpPr>
        <p:spPr>
          <a:xfrm>
            <a:off x="5562295" y="3219602"/>
            <a:ext cx="308610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08B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II</a:t>
            </a:r>
            <a:endParaRPr lang="en-US" sz="2250" dirty="0"/>
          </a:p>
        </p:txBody>
      </p:sp>
      <p:sp>
        <p:nvSpPr>
          <p:cNvPr id="23" name="Text 13"/>
          <p:cNvSpPr txBox="1"/>
          <p:nvPr/>
        </p:nvSpPr>
        <p:spPr>
          <a:xfrm>
            <a:off x="5562295" y="3743554"/>
            <a:ext cx="308610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0B24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Single source</a:t>
            </a:r>
          </a:p>
        </p:txBody>
      </p:sp>
      <p:pic>
        <p:nvPicPr>
          <p:cNvPr id="24" name="Image 8" descr="gen-dedup-ce3897fcf9d21fbb191b45ea05c049bb.png"/>
          <p:cNvPicPr>
            <a:picLocks noChangeAspect="1"/>
          </p:cNvPicPr>
          <p:nvPr/>
        </p:nvPicPr>
        <p:blipFill>
          <a:blip r:embed="rId8"/>
          <a:srcRect t="-369" b="-369"/>
          <a:stretch/>
        </p:blipFill>
        <p:spPr>
          <a:xfrm>
            <a:off x="5562295" y="4305300"/>
            <a:ext cx="495605" cy="19202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5562295" y="4521200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dashboards, not slide packs</a:t>
            </a:r>
          </a:p>
        </p:txBody>
      </p:sp>
      <p:sp>
        <p:nvSpPr>
          <p:cNvPr id="26" name="Text 15"/>
          <p:cNvSpPr txBox="1"/>
          <p:nvPr/>
        </p:nvSpPr>
        <p:spPr>
          <a:xfrm>
            <a:off x="5562295" y="5321300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numbers for ops and board</a:t>
            </a:r>
          </a:p>
        </p:txBody>
      </p:sp>
      <p:sp>
        <p:nvSpPr>
          <p:cNvPr id="27" name="Text 16"/>
          <p:cNvSpPr txBox="1"/>
          <p:nvPr/>
        </p:nvSpPr>
        <p:spPr>
          <a:xfrm>
            <a:off x="5562295" y="6121400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manual reconciliation</a:t>
            </a:r>
          </a:p>
        </p:txBody>
      </p:sp>
      <p:sp>
        <p:nvSpPr>
          <p:cNvPr id="28" name="Text 17"/>
          <p:cNvSpPr txBox="1"/>
          <p:nvPr/>
        </p:nvSpPr>
        <p:spPr>
          <a:xfrm>
            <a:off x="9639605" y="3219602"/>
            <a:ext cx="308610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08B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III</a:t>
            </a:r>
            <a:endParaRPr lang="en-US" sz="2250" dirty="0"/>
          </a:p>
        </p:txBody>
      </p:sp>
      <p:sp>
        <p:nvSpPr>
          <p:cNvPr id="29" name="Text 18"/>
          <p:cNvSpPr txBox="1"/>
          <p:nvPr/>
        </p:nvSpPr>
        <p:spPr>
          <a:xfrm>
            <a:off x="9639605" y="3743554"/>
            <a:ext cx="3327502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0B24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 &amp; review</a:t>
            </a:r>
          </a:p>
        </p:txBody>
      </p:sp>
      <p:pic>
        <p:nvPicPr>
          <p:cNvPr id="30" name="Image 9" descr="gen-dedup-ce3897fcf9d21fbb191b45ea05c049bb.png"/>
          <p:cNvPicPr>
            <a:picLocks noChangeAspect="1"/>
          </p:cNvPicPr>
          <p:nvPr/>
        </p:nvPicPr>
        <p:blipFill>
          <a:blip r:embed="rId8"/>
          <a:srcRect t="-369" b="-369"/>
          <a:stretch/>
        </p:blipFill>
        <p:spPr>
          <a:xfrm>
            <a:off x="9639605" y="4305910"/>
            <a:ext cx="495605" cy="19202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9639605" y="4515307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metric has a named owner</a:t>
            </a:r>
          </a:p>
        </p:txBody>
      </p:sp>
      <p:sp>
        <p:nvSpPr>
          <p:cNvPr id="32" name="Text 20"/>
          <p:cNvSpPr txBox="1"/>
          <p:nvPr/>
        </p:nvSpPr>
        <p:spPr>
          <a:xfrm>
            <a:off x="9639605" y="5318150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Fixed weekly and monthly cadence</a:t>
            </a:r>
          </a:p>
        </p:txBody>
      </p:sp>
      <p:sp>
        <p:nvSpPr>
          <p:cNvPr id="33" name="Text 21"/>
          <p:cNvSpPr txBox="1"/>
          <p:nvPr/>
        </p:nvSpPr>
        <p:spPr>
          <a:xfrm>
            <a:off x="9639605" y="6120994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Actions tracked to closure</a:t>
            </a:r>
          </a:p>
        </p:txBody>
      </p:sp>
      <p:sp>
        <p:nvSpPr>
          <p:cNvPr id="34" name="Text 22"/>
          <p:cNvSpPr txBox="1"/>
          <p:nvPr/>
        </p:nvSpPr>
        <p:spPr>
          <a:xfrm>
            <a:off x="13716000" y="3219602"/>
            <a:ext cx="308610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E4B84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IV</a:t>
            </a:r>
            <a:endParaRPr lang="en-US" sz="2250" dirty="0"/>
          </a:p>
        </p:txBody>
      </p:sp>
      <p:sp>
        <p:nvSpPr>
          <p:cNvPr id="35" name="Text 23"/>
          <p:cNvSpPr txBox="1"/>
          <p:nvPr/>
        </p:nvSpPr>
        <p:spPr>
          <a:xfrm>
            <a:off x="13716000" y="3743554"/>
            <a:ext cx="308610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Transparent</a:t>
            </a:r>
          </a:p>
        </p:txBody>
      </p:sp>
      <p:pic>
        <p:nvPicPr>
          <p:cNvPr id="36" name="Image 10" descr="gen-dedup-70f9342932f7f08693507aa2016f56ac.png"/>
          <p:cNvPicPr>
            <a:picLocks noChangeAspect="1"/>
          </p:cNvPicPr>
          <p:nvPr/>
        </p:nvPicPr>
        <p:blipFill>
          <a:blip r:embed="rId9"/>
          <a:srcRect t="-369" b="-369"/>
          <a:stretch/>
        </p:blipFill>
        <p:spPr>
          <a:xfrm>
            <a:off x="13716000" y="4305300"/>
            <a:ext cx="495605" cy="19202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13716000" y="4521200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C6D2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Targets, actuals and gaps visible</a:t>
            </a:r>
          </a:p>
        </p:txBody>
      </p:sp>
      <p:sp>
        <p:nvSpPr>
          <p:cNvPr id="38" name="Text 25"/>
          <p:cNvSpPr txBox="1"/>
          <p:nvPr/>
        </p:nvSpPr>
        <p:spPr>
          <a:xfrm>
            <a:off x="13716000" y="5321300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C6D2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Good and bad news travel fast</a:t>
            </a:r>
          </a:p>
        </p:txBody>
      </p:sp>
      <p:sp>
        <p:nvSpPr>
          <p:cNvPr id="39" name="Text 26"/>
          <p:cNvSpPr txBox="1"/>
          <p:nvPr/>
        </p:nvSpPr>
        <p:spPr>
          <a:xfrm>
            <a:off x="13716000" y="6121400"/>
            <a:ext cx="3086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74"/>
              </a:lnSpc>
              <a:buNone/>
            </a:pPr>
            <a:r>
              <a:rPr lang="en-US" sz="1725" dirty="0">
                <a:solidFill>
                  <a:srgbClr val="C6D2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Trust built on evidence</a:t>
            </a:r>
          </a:p>
        </p:txBody>
      </p:sp>
      <p:sp>
        <p:nvSpPr>
          <p:cNvPr id="40" name="Text 27"/>
          <p:cNvSpPr txBox="1"/>
          <p:nvPr/>
        </p:nvSpPr>
        <p:spPr>
          <a:xfrm>
            <a:off x="1143000" y="8096098"/>
            <a:ext cx="5715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8B85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SHOP FLOOR</a:t>
            </a:r>
          </a:p>
        </p:txBody>
      </p:sp>
      <p:sp>
        <p:nvSpPr>
          <p:cNvPr id="41" name="Text 28"/>
          <p:cNvSpPr txBox="1"/>
          <p:nvPr/>
        </p:nvSpPr>
        <p:spPr>
          <a:xfrm>
            <a:off x="11430000" y="8096098"/>
            <a:ext cx="5715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50" kern="0" spc="264" dirty="0">
                <a:solidFill>
                  <a:srgbClr val="8B85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BOARD ROOM</a:t>
            </a:r>
          </a:p>
        </p:txBody>
      </p:sp>
      <p:sp>
        <p:nvSpPr>
          <p:cNvPr id="42" name="Text 29"/>
          <p:cNvSpPr txBox="1"/>
          <p:nvPr/>
        </p:nvSpPr>
        <p:spPr>
          <a:xfrm>
            <a:off x="1505102" y="8896198"/>
            <a:ext cx="159261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0B244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same numbers for everyone, in real time — no surprises, no spin, nowhere for problems to hide.</a:t>
            </a:r>
          </a:p>
        </p:txBody>
      </p:sp>
      <p:sp>
        <p:nvSpPr>
          <p:cNvPr id="43" name="Text 30"/>
          <p:cNvSpPr txBox="1"/>
          <p:nvPr/>
        </p:nvSpPr>
        <p:spPr>
          <a:xfrm>
            <a:off x="1143000" y="9715500"/>
            <a:ext cx="8572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8B85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GOSECURE CONSULTING</a:t>
            </a:r>
            <a:endParaRPr lang="en-US" sz="1350" dirty="0"/>
          </a:p>
        </p:txBody>
      </p:sp>
      <p:sp>
        <p:nvSpPr>
          <p:cNvPr id="44" name="Text 31"/>
          <p:cNvSpPr txBox="1"/>
          <p:nvPr/>
        </p:nvSpPr>
        <p:spPr>
          <a:xfrm>
            <a:off x="16192195" y="9715500"/>
            <a:ext cx="952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8B85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462436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286500" cy="10287000"/>
          </a:xfrm>
          <a:prstGeom prst="rect">
            <a:avLst/>
          </a:prstGeom>
          <a:solidFill>
            <a:srgbClr val="0B24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gen-dedup-ae7de9101144bd956a03dc028e40daa7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6286500" y="0"/>
            <a:ext cx="12001500" cy="758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43000" y="1619402"/>
            <a:ext cx="1676095" cy="1676095"/>
          </a:xfrm>
          <a:prstGeom prst="ellipse">
            <a:avLst/>
          </a:prstGeom>
          <a:solidFill>
            <a:srgbClr val="123159"/>
          </a:solidFill>
          <a:ln w="25400">
            <a:solidFill>
              <a:srgbClr val="E4B84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1" descr="gen-dedup-a80995819268ad7557cedc85bd878fae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1143000" y="6362395"/>
            <a:ext cx="952805" cy="19202"/>
          </a:xfrm>
          <a:prstGeom prst="rect">
            <a:avLst/>
          </a:prstGeom>
        </p:spPr>
      </p:pic>
      <p:pic>
        <p:nvPicPr>
          <p:cNvPr id="6" name="Image 2" descr="gen-dedup-3456c0237efcf644ff6867b4bf2aa0c3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7239305" y="2343607"/>
            <a:ext cx="9905695" cy="9144"/>
          </a:xfrm>
          <a:prstGeom prst="rect">
            <a:avLst/>
          </a:prstGeom>
        </p:spPr>
      </p:pic>
      <p:pic>
        <p:nvPicPr>
          <p:cNvPr id="7" name="Image 3" descr="gen-dedup-3456c0237efcf644ff6867b4bf2aa0c3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7239305" y="5410505"/>
            <a:ext cx="9905695" cy="9144"/>
          </a:xfrm>
          <a:prstGeom prst="rect">
            <a:avLst/>
          </a:prstGeom>
        </p:spPr>
      </p:pic>
      <p:pic>
        <p:nvPicPr>
          <p:cNvPr id="8" name="Image 4" descr="gen-dedup-3456c0237efcf644ff6867b4bf2aa0c3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7239305" y="7810805"/>
            <a:ext cx="9905695" cy="9144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1143000" y="819302"/>
            <a:ext cx="4572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429" dirty="0">
                <a:solidFill>
                  <a:srgbClr val="E4B8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LEADERSHIP</a:t>
            </a:r>
            <a:endParaRPr lang="en-US" sz="1650" dirty="0"/>
          </a:p>
        </p:txBody>
      </p:sp>
      <p:sp>
        <p:nvSpPr>
          <p:cNvPr id="10" name="Text 3"/>
          <p:cNvSpPr txBox="1"/>
          <p:nvPr/>
        </p:nvSpPr>
        <p:spPr>
          <a:xfrm>
            <a:off x="1143000" y="2076602"/>
            <a:ext cx="1638605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E4B84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RM</a:t>
            </a:r>
            <a:endParaRPr lang="en-US" sz="4500" dirty="0"/>
          </a:p>
        </p:txBody>
      </p:sp>
      <p:sp>
        <p:nvSpPr>
          <p:cNvPr id="11" name="Text 4"/>
          <p:cNvSpPr txBox="1"/>
          <p:nvPr/>
        </p:nvSpPr>
        <p:spPr>
          <a:xfrm>
            <a:off x="1143000" y="3733495"/>
            <a:ext cx="447690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3900" b="1" kern="0" spc="-39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Rajkumar Meenakshi­sundaram</a:t>
            </a:r>
            <a:endParaRPr lang="en-US" sz="3900" dirty="0"/>
          </a:p>
        </p:txBody>
      </p:sp>
      <p:sp>
        <p:nvSpPr>
          <p:cNvPr id="12" name="Text 5"/>
          <p:cNvSpPr txBox="1"/>
          <p:nvPr/>
        </p:nvSpPr>
        <p:spPr>
          <a:xfrm>
            <a:off x="1143000" y="5600700"/>
            <a:ext cx="4476902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E4B8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PRINCIPAL CONSULTANT</a:t>
            </a:r>
            <a:endParaRPr lang="en-US" sz="1950" dirty="0"/>
          </a:p>
        </p:txBody>
      </p:sp>
      <p:sp>
        <p:nvSpPr>
          <p:cNvPr id="13" name="Text 6"/>
          <p:cNvSpPr txBox="1"/>
          <p:nvPr/>
        </p:nvSpPr>
        <p:spPr>
          <a:xfrm>
            <a:off x="1143000" y="6782105"/>
            <a:ext cx="4476902" cy="2000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23"/>
              </a:lnSpc>
              <a:buNone/>
            </a:pPr>
            <a:r>
              <a:rPr lang="en-US" sz="1950" dirty="0">
                <a:solidFill>
                  <a:srgbClr val="BFCB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28+ years leading finance transformation, shared services and operational excellence across global organisations.</a:t>
            </a:r>
            <a:endParaRPr lang="en-US" sz="1950" dirty="0"/>
          </a:p>
        </p:txBody>
      </p:sp>
      <p:sp>
        <p:nvSpPr>
          <p:cNvPr id="14" name="Text 7"/>
          <p:cNvSpPr txBox="1"/>
          <p:nvPr/>
        </p:nvSpPr>
        <p:spPr>
          <a:xfrm>
            <a:off x="1143000" y="9715500"/>
            <a:ext cx="3810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7C8D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GOSECURE CONSULTING</a:t>
            </a:r>
            <a:endParaRPr lang="en-US" sz="1350" dirty="0"/>
          </a:p>
        </p:txBody>
      </p:sp>
      <p:sp>
        <p:nvSpPr>
          <p:cNvPr id="15" name="Text 8"/>
          <p:cNvSpPr txBox="1"/>
          <p:nvPr/>
        </p:nvSpPr>
        <p:spPr>
          <a:xfrm>
            <a:off x="7239305" y="1218895"/>
            <a:ext cx="1219261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kern="0" spc="-67" dirty="0">
                <a:solidFill>
                  <a:srgbClr val="0B244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Credentials that de-risk the mandate</a:t>
            </a:r>
            <a:endParaRPr lang="en-US" sz="4500" dirty="0"/>
          </a:p>
        </p:txBody>
      </p:sp>
      <p:sp>
        <p:nvSpPr>
          <p:cNvPr id="16" name="Text 9"/>
          <p:cNvSpPr txBox="1"/>
          <p:nvPr/>
        </p:nvSpPr>
        <p:spPr>
          <a:xfrm>
            <a:off x="7239305" y="2686507"/>
            <a:ext cx="99066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75" b="1" kern="0" spc="347" dirty="0">
                <a:solidFill>
                  <a:srgbClr val="C08B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QUALIFICATIONS</a:t>
            </a:r>
            <a:endParaRPr lang="en-US" sz="1575" dirty="0"/>
          </a:p>
        </p:txBody>
      </p:sp>
      <p:sp>
        <p:nvSpPr>
          <p:cNvPr id="17" name="Text 10"/>
          <p:cNvSpPr txBox="1"/>
          <p:nvPr/>
        </p:nvSpPr>
        <p:spPr>
          <a:xfrm>
            <a:off x="7239305" y="3181198"/>
            <a:ext cx="952805" cy="60076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</a:ln>
        </p:spPr>
        <p:txBody>
          <a:bodyPr wrap="none" lIns="254000" tIns="139700" rIns="254000" bIns="139700" rtlCol="0" anchor="ctr"/>
          <a:lstStyle/>
          <a:p>
            <a:pPr marL="0" indent="0" algn="l">
              <a:buNone/>
            </a:pPr>
            <a:r>
              <a:rPr lang="en-US" sz="1875" dirty="0">
                <a:solidFill>
                  <a:srgbClr val="0B24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FCA</a:t>
            </a:r>
            <a:endParaRPr lang="en-US" sz="1875" dirty="0"/>
          </a:p>
        </p:txBody>
      </p:sp>
      <p:sp>
        <p:nvSpPr>
          <p:cNvPr id="18" name="Text 11"/>
          <p:cNvSpPr txBox="1"/>
          <p:nvPr/>
        </p:nvSpPr>
        <p:spPr>
          <a:xfrm>
            <a:off x="8324698" y="3181198"/>
            <a:ext cx="1143000" cy="60076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</a:ln>
        </p:spPr>
        <p:txBody>
          <a:bodyPr wrap="none" lIns="254000" tIns="139700" rIns="254000" bIns="139700" rtlCol="0" anchor="ctr"/>
          <a:lstStyle/>
          <a:p>
            <a:pPr marL="0" indent="0" algn="l">
              <a:buNone/>
            </a:pPr>
            <a:r>
              <a:rPr lang="en-US" sz="1875" dirty="0">
                <a:solidFill>
                  <a:srgbClr val="0B24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ICWA</a:t>
            </a:r>
            <a:endParaRPr lang="en-US" sz="1875" dirty="0"/>
          </a:p>
        </p:txBody>
      </p:sp>
      <p:sp>
        <p:nvSpPr>
          <p:cNvPr id="19" name="Text 12"/>
          <p:cNvSpPr txBox="1"/>
          <p:nvPr/>
        </p:nvSpPr>
        <p:spPr>
          <a:xfrm>
            <a:off x="9596628" y="3181198"/>
            <a:ext cx="1705356" cy="60076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</a:ln>
        </p:spPr>
        <p:txBody>
          <a:bodyPr wrap="none" lIns="254000" tIns="139700" rIns="254000" bIns="139700" rtlCol="0" anchor="ctr"/>
          <a:lstStyle/>
          <a:p>
            <a:pPr marL="0" indent="0" algn="l">
              <a:buNone/>
            </a:pPr>
            <a:r>
              <a:rPr lang="en-US" sz="1875" dirty="0">
                <a:solidFill>
                  <a:srgbClr val="0B24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CMA (USA)</a:t>
            </a:r>
            <a:endParaRPr lang="en-US" sz="1875" dirty="0"/>
          </a:p>
        </p:txBody>
      </p:sp>
      <p:sp>
        <p:nvSpPr>
          <p:cNvPr id="20" name="Text 13"/>
          <p:cNvSpPr txBox="1"/>
          <p:nvPr/>
        </p:nvSpPr>
        <p:spPr>
          <a:xfrm>
            <a:off x="11425428" y="3181198"/>
            <a:ext cx="1677010" cy="60076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</a:ln>
        </p:spPr>
        <p:txBody>
          <a:bodyPr wrap="none" lIns="254000" tIns="139700" rIns="254000" bIns="139700" rtlCol="0" anchor="ctr"/>
          <a:lstStyle/>
          <a:p>
            <a:pPr marL="0" indent="0" algn="l">
              <a:buNone/>
            </a:pPr>
            <a:r>
              <a:rPr lang="en-US" sz="1875" dirty="0">
                <a:solidFill>
                  <a:srgbClr val="0B24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CFM (USA)</a:t>
            </a:r>
            <a:endParaRPr lang="en-US" sz="1875" dirty="0"/>
          </a:p>
        </p:txBody>
      </p:sp>
      <p:sp>
        <p:nvSpPr>
          <p:cNvPr id="21" name="Text 14"/>
          <p:cNvSpPr txBox="1"/>
          <p:nvPr/>
        </p:nvSpPr>
        <p:spPr>
          <a:xfrm>
            <a:off x="13233197" y="3181198"/>
            <a:ext cx="2800807" cy="60076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</a:ln>
        </p:spPr>
        <p:txBody>
          <a:bodyPr wrap="none" lIns="254000" tIns="139700" rIns="254000" bIns="139700" rtlCol="0" anchor="ctr"/>
          <a:lstStyle/>
          <a:p>
            <a:pPr marL="0" indent="0" algn="l">
              <a:buNone/>
            </a:pPr>
            <a:r>
              <a:rPr lang="en-US" sz="1875" dirty="0">
                <a:solidFill>
                  <a:srgbClr val="0B24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Sigma Green Belt</a:t>
            </a:r>
            <a:endParaRPr lang="en-US" sz="1875" dirty="0"/>
          </a:p>
        </p:txBody>
      </p:sp>
      <p:sp>
        <p:nvSpPr>
          <p:cNvPr id="22" name="Text 15"/>
          <p:cNvSpPr txBox="1"/>
          <p:nvPr/>
        </p:nvSpPr>
        <p:spPr>
          <a:xfrm>
            <a:off x="7239305" y="3914546"/>
            <a:ext cx="4896612" cy="60076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</a:ln>
        </p:spPr>
        <p:txBody>
          <a:bodyPr wrap="none" lIns="254000" tIns="139700" rIns="254000" bIns="139700" rtlCol="0" anchor="ctr"/>
          <a:lstStyle/>
          <a:p>
            <a:pPr marL="0" indent="0" algn="l">
              <a:buNone/>
            </a:pPr>
            <a:r>
              <a:rPr lang="en-US" sz="1875" dirty="0">
                <a:solidFill>
                  <a:srgbClr val="0B24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Digital Transformation — ISB Hyderabad</a:t>
            </a:r>
            <a:endParaRPr lang="en-US" sz="1875" dirty="0"/>
          </a:p>
        </p:txBody>
      </p:sp>
      <p:sp>
        <p:nvSpPr>
          <p:cNvPr id="23" name="Text 16"/>
          <p:cNvSpPr txBox="1"/>
          <p:nvPr/>
        </p:nvSpPr>
        <p:spPr>
          <a:xfrm>
            <a:off x="12263018" y="3914546"/>
            <a:ext cx="3877056" cy="60076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</a:ln>
        </p:spPr>
        <p:txBody>
          <a:bodyPr wrap="none" lIns="254000" tIns="139700" rIns="254000" bIns="139700" rtlCol="0" anchor="ctr"/>
          <a:lstStyle/>
          <a:p>
            <a:pPr marL="0" indent="0" algn="l">
              <a:buNone/>
            </a:pPr>
            <a:r>
              <a:rPr lang="en-US" sz="1875" dirty="0">
                <a:solidFill>
                  <a:srgbClr val="0B24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Certified Independent Director</a:t>
            </a:r>
            <a:endParaRPr lang="en-US" sz="1875" dirty="0"/>
          </a:p>
        </p:txBody>
      </p:sp>
      <p:sp>
        <p:nvSpPr>
          <p:cNvPr id="24" name="Text 17"/>
          <p:cNvSpPr txBox="1"/>
          <p:nvPr/>
        </p:nvSpPr>
        <p:spPr>
          <a:xfrm>
            <a:off x="7239305" y="5753405"/>
            <a:ext cx="99066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75" b="1" kern="0" spc="347" dirty="0">
                <a:solidFill>
                  <a:srgbClr val="C08B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GLOBAL TRACK RECORD</a:t>
            </a:r>
            <a:endParaRPr lang="en-US" sz="1575" dirty="0"/>
          </a:p>
        </p:txBody>
      </p:sp>
      <p:sp>
        <p:nvSpPr>
          <p:cNvPr id="25" name="Text 18"/>
          <p:cNvSpPr txBox="1"/>
          <p:nvPr/>
        </p:nvSpPr>
        <p:spPr>
          <a:xfrm>
            <a:off x="7239305" y="6203290"/>
            <a:ext cx="9906610" cy="118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33"/>
              </a:lnSpc>
              <a:buNone/>
            </a:pPr>
            <a:r>
              <a:rPr lang="en-US" sz="2850" b="1" dirty="0">
                <a:solidFill>
                  <a:srgbClr val="0B244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Cognizant · Shell · Standard Chartered Bank</a:t>
            </a:r>
            <a:endParaRPr lang="en-US" sz="2850" dirty="0"/>
          </a:p>
          <a:p>
            <a:pPr marL="0" indent="0" algn="l">
              <a:lnSpc>
                <a:spcPts val="4133"/>
              </a:lnSpc>
              <a:buNone/>
            </a:pPr>
            <a:r>
              <a:rPr lang="en-US" sz="2850" b="1" dirty="0">
                <a:solidFill>
                  <a:srgbClr val="0B244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Maersk · Agility · Independent Director &amp; Board advisor</a:t>
            </a:r>
            <a:endParaRPr lang="en-US" sz="2850" dirty="0"/>
          </a:p>
        </p:txBody>
      </p:sp>
      <p:sp>
        <p:nvSpPr>
          <p:cNvPr id="26" name="Text 19"/>
          <p:cNvSpPr txBox="1"/>
          <p:nvPr/>
        </p:nvSpPr>
        <p:spPr>
          <a:xfrm>
            <a:off x="7239305" y="8172907"/>
            <a:ext cx="3143707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C08B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28</a:t>
            </a:r>
            <a:r>
              <a:rPr lang="en-US" sz="2250" b="1" dirty="0">
                <a:solidFill>
                  <a:srgbClr val="C08B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+</a:t>
            </a:r>
            <a:endParaRPr lang="en-US" sz="3900" dirty="0"/>
          </a:p>
        </p:txBody>
      </p:sp>
      <p:sp>
        <p:nvSpPr>
          <p:cNvPr id="27" name="Text 20"/>
          <p:cNvSpPr txBox="1"/>
          <p:nvPr/>
        </p:nvSpPr>
        <p:spPr>
          <a:xfrm>
            <a:off x="7239305" y="8740750"/>
            <a:ext cx="3143707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15"/>
              </a:lnSpc>
              <a:buNone/>
            </a:pPr>
            <a:r>
              <a:rPr lang="en-US" sz="172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years in finance,</a:t>
            </a:r>
            <a:endParaRPr lang="en-US" sz="1725" dirty="0"/>
          </a:p>
          <a:p>
            <a:pPr marL="0" indent="0" algn="l">
              <a:lnSpc>
                <a:spcPts val="2415"/>
              </a:lnSpc>
              <a:buNone/>
            </a:pPr>
            <a:r>
              <a:rPr lang="en-US" sz="172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transformation &amp; services</a:t>
            </a:r>
            <a:endParaRPr lang="en-US" sz="1725" dirty="0"/>
          </a:p>
        </p:txBody>
      </p:sp>
      <p:sp>
        <p:nvSpPr>
          <p:cNvPr id="28" name="Text 21"/>
          <p:cNvSpPr txBox="1"/>
          <p:nvPr/>
        </p:nvSpPr>
        <p:spPr>
          <a:xfrm>
            <a:off x="10668305" y="8172907"/>
            <a:ext cx="3143707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C08B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6</a:t>
            </a:r>
            <a:endParaRPr lang="en-US" sz="3900" dirty="0"/>
          </a:p>
        </p:txBody>
      </p:sp>
      <p:sp>
        <p:nvSpPr>
          <p:cNvPr id="29" name="Text 22"/>
          <p:cNvSpPr txBox="1"/>
          <p:nvPr/>
        </p:nvSpPr>
        <p:spPr>
          <a:xfrm>
            <a:off x="10668305" y="8754466"/>
            <a:ext cx="3143707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1"/>
              </a:lnSpc>
              <a:buNone/>
            </a:pPr>
            <a:r>
              <a:rPr lang="en-US" sz="172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global enterprises</a:t>
            </a:r>
            <a:endParaRPr lang="en-US" sz="1725" dirty="0"/>
          </a:p>
          <a:p>
            <a:pPr marL="0" indent="0" algn="l">
              <a:lnSpc>
                <a:spcPts val="2501"/>
              </a:lnSpc>
              <a:buNone/>
            </a:pPr>
            <a:r>
              <a:rPr lang="en-US" sz="172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consulting engagements</a:t>
            </a:r>
            <a:endParaRPr lang="en-US" sz="1725" dirty="0"/>
          </a:p>
        </p:txBody>
      </p:sp>
      <p:sp>
        <p:nvSpPr>
          <p:cNvPr id="30" name="Text 23"/>
          <p:cNvSpPr txBox="1"/>
          <p:nvPr/>
        </p:nvSpPr>
        <p:spPr>
          <a:xfrm>
            <a:off x="14097305" y="8172907"/>
            <a:ext cx="3143707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C08B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7</a:t>
            </a:r>
            <a:endParaRPr lang="en-US" sz="3900" dirty="0"/>
          </a:p>
        </p:txBody>
      </p:sp>
      <p:sp>
        <p:nvSpPr>
          <p:cNvPr id="31" name="Text 24"/>
          <p:cNvSpPr txBox="1"/>
          <p:nvPr/>
        </p:nvSpPr>
        <p:spPr>
          <a:xfrm>
            <a:off x="14097305" y="8754466"/>
            <a:ext cx="3143707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1"/>
              </a:lnSpc>
              <a:buNone/>
            </a:pPr>
            <a:r>
              <a:rPr lang="en-US" sz="172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professional and</a:t>
            </a:r>
            <a:endParaRPr lang="en-US" sz="1725" dirty="0"/>
          </a:p>
          <a:p>
            <a:pPr marL="0" indent="0" algn="l">
              <a:lnSpc>
                <a:spcPts val="2501"/>
              </a:lnSpc>
              <a:buNone/>
            </a:pPr>
            <a:r>
              <a:rPr lang="en-US" sz="1725" dirty="0">
                <a:solidFill>
                  <a:srgbClr val="4858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governance credentials</a:t>
            </a:r>
            <a:endParaRPr lang="en-US" sz="1725" dirty="0"/>
          </a:p>
        </p:txBody>
      </p:sp>
      <p:sp>
        <p:nvSpPr>
          <p:cNvPr id="32" name="Text 25"/>
          <p:cNvSpPr txBox="1"/>
          <p:nvPr/>
        </p:nvSpPr>
        <p:spPr>
          <a:xfrm>
            <a:off x="16192195" y="9715500"/>
            <a:ext cx="952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8B85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422476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2fe2f4c33cc05f7066a8193ba8b4f77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7067398"/>
            <a:ext cx="7295998" cy="2514600"/>
          </a:xfrm>
          <a:prstGeom prst="rect">
            <a:avLst/>
          </a:prstGeom>
          <a:solidFill>
            <a:srgbClr val="E4B84E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1143000" y="7067398"/>
            <a:ext cx="57607" cy="2514600"/>
          </a:xfrm>
          <a:prstGeom prst="rect">
            <a:avLst/>
          </a:prstGeom>
          <a:solidFill>
            <a:srgbClr val="E4B84E"/>
          </a:solidFill>
          <a:ln w="12700">
            <a:solidFill>
              <a:srgbClr val="E4B8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1" descr="gen-dedup-683b1c940779275c0c095adf3f15dfce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2247595"/>
            <a:ext cx="16002000" cy="9144"/>
          </a:xfrm>
          <a:prstGeom prst="rect">
            <a:avLst/>
          </a:prstGeom>
        </p:spPr>
      </p:pic>
      <p:pic>
        <p:nvPicPr>
          <p:cNvPr id="6" name="Image 2" descr="gen-dedup-1ed02ab7499d04df255498d58a5f7a36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9144000" y="3981298"/>
            <a:ext cx="8001000" cy="9144"/>
          </a:xfrm>
          <a:prstGeom prst="rect">
            <a:avLst/>
          </a:prstGeom>
        </p:spPr>
      </p:pic>
      <p:pic>
        <p:nvPicPr>
          <p:cNvPr id="7" name="Image 3" descr="gen-dedup-1ed02ab7499d04df255498d58a5f7a36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9144000" y="5447995"/>
            <a:ext cx="8001000" cy="9144"/>
          </a:xfrm>
          <a:prstGeom prst="rect">
            <a:avLst/>
          </a:prstGeom>
        </p:spPr>
      </p:pic>
      <p:pic>
        <p:nvPicPr>
          <p:cNvPr id="8" name="Image 4" descr="gen-dedup-1ed02ab7499d04df255498d58a5f7a36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9144000" y="6915607"/>
            <a:ext cx="8001000" cy="9144"/>
          </a:xfrm>
          <a:prstGeom prst="rect">
            <a:avLst/>
          </a:prstGeom>
        </p:spPr>
      </p:pic>
      <p:pic>
        <p:nvPicPr>
          <p:cNvPr id="9" name="Image 5" descr="gen-dedup-1ed02ab7499d04df255498d58a5f7a36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9144000" y="8382305"/>
            <a:ext cx="8001000" cy="9144"/>
          </a:xfrm>
          <a:prstGeom prst="rect">
            <a:avLst/>
          </a:prstGeom>
        </p:spPr>
      </p:pic>
      <p:sp>
        <p:nvSpPr>
          <p:cNvPr id="10" name="Text 2"/>
          <p:cNvSpPr txBox="1"/>
          <p:nvPr/>
        </p:nvSpPr>
        <p:spPr>
          <a:xfrm>
            <a:off x="1143000" y="761695"/>
            <a:ext cx="66678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kern="0" spc="429" dirty="0">
                <a:solidFill>
                  <a:srgbClr val="E4B8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VALUE PROPOSITION</a:t>
            </a:r>
            <a:endParaRPr lang="en-US" sz="1650" dirty="0"/>
          </a:p>
        </p:txBody>
      </p:sp>
      <p:sp>
        <p:nvSpPr>
          <p:cNvPr id="11" name="Text 3"/>
          <p:cNvSpPr txBox="1"/>
          <p:nvPr/>
        </p:nvSpPr>
        <p:spPr>
          <a:xfrm>
            <a:off x="1143000" y="1162202"/>
            <a:ext cx="114300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Why GoSecure</a:t>
            </a:r>
            <a:endParaRPr lang="en-US" sz="4650" dirty="0"/>
          </a:p>
        </p:txBody>
      </p:sp>
      <p:sp>
        <p:nvSpPr>
          <p:cNvPr id="12" name="Text 4"/>
          <p:cNvSpPr txBox="1"/>
          <p:nvPr/>
        </p:nvSpPr>
        <p:spPr>
          <a:xfrm>
            <a:off x="1143000" y="2762402"/>
            <a:ext cx="72393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kern="0" spc="315" dirty="0">
                <a:solidFill>
                  <a:srgbClr val="E4B8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MATURITY ELEVATION</a:t>
            </a:r>
            <a:endParaRPr lang="en-US" sz="1575" dirty="0"/>
          </a:p>
        </p:txBody>
      </p:sp>
      <p:sp>
        <p:nvSpPr>
          <p:cNvPr id="13" name="Text 5"/>
          <p:cNvSpPr txBox="1"/>
          <p:nvPr/>
        </p:nvSpPr>
        <p:spPr>
          <a:xfrm>
            <a:off x="1143000" y="4762195"/>
            <a:ext cx="16578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FA2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L2</a:t>
            </a:r>
            <a:endParaRPr lang="en-US" sz="1500" dirty="0"/>
          </a:p>
        </p:txBody>
      </p:sp>
      <p:sp>
        <p:nvSpPr>
          <p:cNvPr id="14" name="Shape 6"/>
          <p:cNvSpPr/>
          <p:nvPr/>
        </p:nvSpPr>
        <p:spPr>
          <a:xfrm>
            <a:off x="1143000" y="5115154"/>
            <a:ext cx="1657807" cy="619049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7"/>
          <p:cNvSpPr txBox="1"/>
          <p:nvPr/>
        </p:nvSpPr>
        <p:spPr>
          <a:xfrm>
            <a:off x="3004718" y="4143146"/>
            <a:ext cx="16578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FA2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L3</a:t>
            </a:r>
            <a:endParaRPr lang="en-US" sz="1500" dirty="0"/>
          </a:p>
        </p:txBody>
      </p:sp>
      <p:sp>
        <p:nvSpPr>
          <p:cNvPr id="16" name="Shape 8"/>
          <p:cNvSpPr/>
          <p:nvPr/>
        </p:nvSpPr>
        <p:spPr>
          <a:xfrm>
            <a:off x="3004718" y="4496105"/>
            <a:ext cx="1657807" cy="1238098"/>
          </a:xfrm>
          <a:prstGeom prst="rect">
            <a:avLst/>
          </a:prstGeom>
          <a:solidFill>
            <a:srgbClr val="E4B84E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9"/>
          <p:cNvSpPr txBox="1"/>
          <p:nvPr/>
        </p:nvSpPr>
        <p:spPr>
          <a:xfrm>
            <a:off x="4867351" y="3524098"/>
            <a:ext cx="16578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4B8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L4</a:t>
            </a:r>
            <a:endParaRPr lang="en-US" sz="1500" dirty="0"/>
          </a:p>
        </p:txBody>
      </p:sp>
      <p:sp>
        <p:nvSpPr>
          <p:cNvPr id="18" name="Shape 10"/>
          <p:cNvSpPr/>
          <p:nvPr/>
        </p:nvSpPr>
        <p:spPr>
          <a:xfrm>
            <a:off x="4867351" y="3877056"/>
            <a:ext cx="1657807" cy="1857146"/>
          </a:xfrm>
          <a:prstGeom prst="rect">
            <a:avLst/>
          </a:prstGeom>
          <a:solidFill>
            <a:srgbClr val="E4B8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1"/>
          <p:cNvSpPr txBox="1"/>
          <p:nvPr/>
        </p:nvSpPr>
        <p:spPr>
          <a:xfrm>
            <a:off x="6729070" y="3353105"/>
            <a:ext cx="16578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4B8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L4+</a:t>
            </a:r>
            <a:endParaRPr lang="en-US" sz="1500" dirty="0"/>
          </a:p>
        </p:txBody>
      </p:sp>
      <p:sp>
        <p:nvSpPr>
          <p:cNvPr id="20" name="Shape 12"/>
          <p:cNvSpPr/>
          <p:nvPr/>
        </p:nvSpPr>
        <p:spPr>
          <a:xfrm>
            <a:off x="6729070" y="3705149"/>
            <a:ext cx="1657807" cy="2029054"/>
          </a:xfrm>
          <a:prstGeom prst="rect">
            <a:avLst/>
          </a:prstGeom>
          <a:solidFill>
            <a:srgbClr val="E4B8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3"/>
          <p:cNvSpPr txBox="1"/>
          <p:nvPr/>
        </p:nvSpPr>
        <p:spPr>
          <a:xfrm>
            <a:off x="1143000" y="5924398"/>
            <a:ext cx="1496873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BFCB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Transactional</a:t>
            </a:r>
            <a:endParaRPr lang="en-US" sz="1650" dirty="0"/>
          </a:p>
        </p:txBody>
      </p:sp>
      <p:sp>
        <p:nvSpPr>
          <p:cNvPr id="22" name="Text 14"/>
          <p:cNvSpPr txBox="1"/>
          <p:nvPr/>
        </p:nvSpPr>
        <p:spPr>
          <a:xfrm>
            <a:off x="6756502" y="5924398"/>
            <a:ext cx="193852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E4B8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Strategic partner</a:t>
            </a:r>
            <a:endParaRPr lang="en-US" sz="1650" dirty="0"/>
          </a:p>
        </p:txBody>
      </p:sp>
      <p:sp>
        <p:nvSpPr>
          <p:cNvPr id="23" name="Text 15"/>
          <p:cNvSpPr txBox="1"/>
          <p:nvPr/>
        </p:nvSpPr>
        <p:spPr>
          <a:xfrm>
            <a:off x="9144000" y="2762402"/>
            <a:ext cx="3621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E4B84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950" dirty="0"/>
          </a:p>
        </p:txBody>
      </p:sp>
      <p:sp>
        <p:nvSpPr>
          <p:cNvPr id="24" name="Text 16"/>
          <p:cNvSpPr txBox="1"/>
          <p:nvPr/>
        </p:nvSpPr>
        <p:spPr>
          <a:xfrm>
            <a:off x="9734702" y="2762402"/>
            <a:ext cx="74112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Proven ROI</a:t>
            </a:r>
            <a:endParaRPr lang="en-US" sz="2250" dirty="0"/>
          </a:p>
        </p:txBody>
      </p:sp>
      <p:sp>
        <p:nvSpPr>
          <p:cNvPr id="25" name="Text 17"/>
          <p:cNvSpPr txBox="1"/>
          <p:nvPr/>
        </p:nvSpPr>
        <p:spPr>
          <a:xfrm>
            <a:off x="9734702" y="3191256"/>
            <a:ext cx="741121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1725" dirty="0">
                <a:solidFill>
                  <a:srgbClr val="BFCB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Sustainable cost reduction through redesign — not headcount cuts that come back.</a:t>
            </a:r>
            <a:endParaRPr lang="en-US" sz="1725" dirty="0"/>
          </a:p>
        </p:txBody>
      </p:sp>
      <p:sp>
        <p:nvSpPr>
          <p:cNvPr id="26" name="Text 18"/>
          <p:cNvSpPr txBox="1"/>
          <p:nvPr/>
        </p:nvSpPr>
        <p:spPr>
          <a:xfrm>
            <a:off x="9144000" y="4229100"/>
            <a:ext cx="3621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E4B84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950" dirty="0"/>
          </a:p>
        </p:txBody>
      </p:sp>
      <p:sp>
        <p:nvSpPr>
          <p:cNvPr id="27" name="Text 19"/>
          <p:cNvSpPr txBox="1"/>
          <p:nvPr/>
        </p:nvSpPr>
        <p:spPr>
          <a:xfrm>
            <a:off x="9734702" y="4229100"/>
            <a:ext cx="7381951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Rapid maturity elevation</a:t>
            </a:r>
            <a:endParaRPr lang="en-US" sz="2250" dirty="0"/>
          </a:p>
        </p:txBody>
      </p:sp>
      <p:sp>
        <p:nvSpPr>
          <p:cNvPr id="28" name="Text 20"/>
          <p:cNvSpPr txBox="1"/>
          <p:nvPr/>
        </p:nvSpPr>
        <p:spPr>
          <a:xfrm>
            <a:off x="9734702" y="4657954"/>
            <a:ext cx="8067751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BFCB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structured path from Level 2 transactional to Level 4+ strategic partnering.</a:t>
            </a:r>
            <a:endParaRPr lang="en-US" sz="1725" dirty="0"/>
          </a:p>
        </p:txBody>
      </p:sp>
      <p:sp>
        <p:nvSpPr>
          <p:cNvPr id="29" name="Text 21"/>
          <p:cNvSpPr txBox="1"/>
          <p:nvPr/>
        </p:nvSpPr>
        <p:spPr>
          <a:xfrm>
            <a:off x="9144000" y="5695798"/>
            <a:ext cx="3621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E4B84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950" dirty="0"/>
          </a:p>
        </p:txBody>
      </p:sp>
      <p:sp>
        <p:nvSpPr>
          <p:cNvPr id="30" name="Text 22"/>
          <p:cNvSpPr txBox="1"/>
          <p:nvPr/>
        </p:nvSpPr>
        <p:spPr>
          <a:xfrm>
            <a:off x="9734702" y="5695798"/>
            <a:ext cx="74112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Digital-first operations</a:t>
            </a:r>
            <a:endParaRPr lang="en-US" sz="2250" dirty="0"/>
          </a:p>
        </p:txBody>
      </p:sp>
      <p:sp>
        <p:nvSpPr>
          <p:cNvPr id="31" name="Text 23"/>
          <p:cNvSpPr txBox="1"/>
          <p:nvPr/>
        </p:nvSpPr>
        <p:spPr>
          <a:xfrm>
            <a:off x="9734702" y="6124651"/>
            <a:ext cx="741121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1725" dirty="0">
                <a:solidFill>
                  <a:srgbClr val="BFCB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Data-driven, automated and instrumented — every process carries its own metric.</a:t>
            </a:r>
            <a:endParaRPr lang="en-US" sz="1725" dirty="0"/>
          </a:p>
        </p:txBody>
      </p:sp>
      <p:sp>
        <p:nvSpPr>
          <p:cNvPr id="32" name="Text 24"/>
          <p:cNvSpPr txBox="1"/>
          <p:nvPr/>
        </p:nvSpPr>
        <p:spPr>
          <a:xfrm>
            <a:off x="9144000" y="7162495"/>
            <a:ext cx="3621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E4B84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</a:t>
            </a:r>
            <a:endParaRPr lang="en-US" sz="1950" dirty="0"/>
          </a:p>
        </p:txBody>
      </p:sp>
      <p:sp>
        <p:nvSpPr>
          <p:cNvPr id="33" name="Text 25"/>
          <p:cNvSpPr txBox="1"/>
          <p:nvPr/>
        </p:nvSpPr>
        <p:spPr>
          <a:xfrm>
            <a:off x="9734702" y="7162495"/>
            <a:ext cx="74112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Talent plus technology</a:t>
            </a:r>
            <a:endParaRPr lang="en-US" sz="2250" dirty="0"/>
          </a:p>
        </p:txBody>
      </p:sp>
      <p:sp>
        <p:nvSpPr>
          <p:cNvPr id="34" name="Text 26"/>
          <p:cNvSpPr txBox="1"/>
          <p:nvPr/>
        </p:nvSpPr>
        <p:spPr>
          <a:xfrm>
            <a:off x="9734702" y="7591349"/>
            <a:ext cx="741121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1725" dirty="0">
                <a:solidFill>
                  <a:srgbClr val="BFCB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right blend of capability building and automation, sequenced deliberately.</a:t>
            </a:r>
            <a:endParaRPr lang="en-US" sz="1725" dirty="0"/>
          </a:p>
        </p:txBody>
      </p:sp>
      <p:sp>
        <p:nvSpPr>
          <p:cNvPr id="35" name="Text 27"/>
          <p:cNvSpPr txBox="1"/>
          <p:nvPr/>
        </p:nvSpPr>
        <p:spPr>
          <a:xfrm>
            <a:off x="9144000" y="8630107"/>
            <a:ext cx="3621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E4B84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05</a:t>
            </a:r>
            <a:endParaRPr lang="en-US" sz="1950" dirty="0"/>
          </a:p>
        </p:txBody>
      </p:sp>
      <p:sp>
        <p:nvSpPr>
          <p:cNvPr id="36" name="Text 28"/>
          <p:cNvSpPr txBox="1"/>
          <p:nvPr/>
        </p:nvSpPr>
        <p:spPr>
          <a:xfrm>
            <a:off x="9734702" y="8630107"/>
            <a:ext cx="73920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Aligned commercials</a:t>
            </a:r>
            <a:endParaRPr lang="en-US" sz="2250" dirty="0"/>
          </a:p>
        </p:txBody>
      </p:sp>
      <p:sp>
        <p:nvSpPr>
          <p:cNvPr id="37" name="Text 29"/>
          <p:cNvSpPr txBox="1"/>
          <p:nvPr/>
        </p:nvSpPr>
        <p:spPr>
          <a:xfrm>
            <a:off x="9734702" y="9058046"/>
            <a:ext cx="80778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BFCB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Outcome-based pricing models available — we carry part of the delivery risk.</a:t>
            </a:r>
            <a:endParaRPr lang="en-US" sz="1725" dirty="0"/>
          </a:p>
        </p:txBody>
      </p:sp>
      <p:sp>
        <p:nvSpPr>
          <p:cNvPr id="38" name="Text 30"/>
          <p:cNvSpPr txBox="1"/>
          <p:nvPr/>
        </p:nvSpPr>
        <p:spPr>
          <a:xfrm>
            <a:off x="1543507" y="7448702"/>
            <a:ext cx="6477610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Let's discuss how we turn your finance and HR functions into competitive advantages.</a:t>
            </a:r>
            <a:endParaRPr lang="en-US" sz="2700" dirty="0"/>
          </a:p>
        </p:txBody>
      </p:sp>
      <p:sp>
        <p:nvSpPr>
          <p:cNvPr id="39" name="Text 31"/>
          <p:cNvSpPr txBox="1"/>
          <p:nvPr/>
        </p:nvSpPr>
        <p:spPr>
          <a:xfrm>
            <a:off x="1543507" y="8973007"/>
            <a:ext cx="6477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E4B8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GOSECURE CONSULTING</a:t>
            </a:r>
            <a:endParaRPr lang="en-US" sz="1650" dirty="0"/>
          </a:p>
        </p:txBody>
      </p:sp>
      <p:sp>
        <p:nvSpPr>
          <p:cNvPr id="40" name="Text 32"/>
          <p:cNvSpPr txBox="1"/>
          <p:nvPr/>
        </p:nvSpPr>
        <p:spPr>
          <a:xfrm>
            <a:off x="16192195" y="9753905"/>
            <a:ext cx="952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7C8D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09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740258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A796183-0818-45B1-9B22-CFAE441BA2DD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2ca8dbcd-a86c-44de-9c93-ac21aa41b92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1082</Words>
  <Application>Microsoft Office PowerPoint</Application>
  <PresentationFormat>Custom</PresentationFormat>
  <Paragraphs>221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IBM Plex Sans</vt:lpstr>
      <vt:lpstr>Source Serif 4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Maathavam Consulting</cp:lastModifiedBy>
  <cp:revision>1</cp:revision>
  <dcterms:created xsi:type="dcterms:W3CDTF">2026-09-01T17:21:40Z</dcterms:created>
  <dcterms:modified xsi:type="dcterms:W3CDTF">2026-09-06T10:26:54Z</dcterms:modified>
</cp:coreProperties>
</file>