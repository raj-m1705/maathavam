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8"/>
  </p:notesMasterIdLst>
  <p:sldIdLst>
    <p:sldId id="314" r:id="rId2"/>
    <p:sldId id="281" r:id="rId3"/>
    <p:sldId id="308" r:id="rId4"/>
    <p:sldId id="305" r:id="rId5"/>
    <p:sldId id="311" r:id="rId6"/>
    <p:sldId id="31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7535C6-5D66-456D-B169-D01C6A6D0569}" v="2" dt="2026-07-28T09:41:38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thavam Consulting" userId="6ee6a40a0106b3f1" providerId="LiveId" clId="{2D0F2F04-067F-4C37-B828-7D8EE8DC6936}"/>
    <pc:docChg chg="custSel addSld delSld modSld sldOrd">
      <pc:chgData name="Maathavam Consulting" userId="6ee6a40a0106b3f1" providerId="LiveId" clId="{2D0F2F04-067F-4C37-B828-7D8EE8DC6936}" dt="2026-08-10T13:26:27.711" v="300" actId="20577"/>
      <pc:docMkLst>
        <pc:docMk/>
      </pc:docMkLst>
      <pc:sldChg chg="modSp mod ord">
        <pc:chgData name="Maathavam Consulting" userId="6ee6a40a0106b3f1" providerId="LiveId" clId="{2D0F2F04-067F-4C37-B828-7D8EE8DC6936}" dt="2026-07-26T04:05:20.521" v="251" actId="20577"/>
        <pc:sldMkLst>
          <pc:docMk/>
          <pc:sldMk cId="4231493716" sldId="281"/>
        </pc:sldMkLst>
        <pc:spChg chg="mod">
          <ac:chgData name="Maathavam Consulting" userId="6ee6a40a0106b3f1" providerId="LiveId" clId="{2D0F2F04-067F-4C37-B828-7D8EE8DC6936}" dt="2026-07-26T03:56:06.555" v="55" actId="122"/>
          <ac:spMkLst>
            <pc:docMk/>
            <pc:sldMk cId="4231493716" sldId="281"/>
            <ac:spMk id="101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7-26T04:05:20.521" v="251" actId="20577"/>
          <ac:spMkLst>
            <pc:docMk/>
            <pc:sldMk cId="4231493716" sldId="281"/>
            <ac:spMk id="124" creationId="{00000000-0000-0000-0000-000000000000}"/>
          </ac:spMkLst>
        </pc:spChg>
      </pc:sldChg>
      <pc:sldChg chg="modSp mod">
        <pc:chgData name="Maathavam Consulting" userId="6ee6a40a0106b3f1" providerId="LiveId" clId="{2D0F2F04-067F-4C37-B828-7D8EE8DC6936}" dt="2026-08-10T13:26:27.711" v="300" actId="20577"/>
        <pc:sldMkLst>
          <pc:docMk/>
          <pc:sldMk cId="3233950091" sldId="305"/>
        </pc:sldMkLst>
        <pc:spChg chg="mod">
          <ac:chgData name="Maathavam Consulting" userId="6ee6a40a0106b3f1" providerId="LiveId" clId="{2D0F2F04-067F-4C37-B828-7D8EE8DC6936}" dt="2026-08-10T13:26:27.711" v="300" actId="20577"/>
          <ac:spMkLst>
            <pc:docMk/>
            <pc:sldMk cId="3233950091" sldId="305"/>
            <ac:spMk id="127" creationId="{00000000-0000-0000-0000-000000000000}"/>
          </ac:spMkLst>
        </pc:spChg>
      </pc:sldChg>
      <pc:sldChg chg="modSp mod">
        <pc:chgData name="Maathavam Consulting" userId="6ee6a40a0106b3f1" providerId="LiveId" clId="{2D0F2F04-067F-4C37-B828-7D8EE8DC6936}" dt="2026-07-28T09:41:52.438" v="285" actId="404"/>
        <pc:sldMkLst>
          <pc:docMk/>
          <pc:sldMk cId="444547356" sldId="308"/>
        </pc:sldMkLst>
        <pc:spChg chg="mod">
          <ac:chgData name="Maathavam Consulting" userId="6ee6a40a0106b3f1" providerId="LiveId" clId="{2D0F2F04-067F-4C37-B828-7D8EE8DC6936}" dt="2026-07-28T09:41:52.438" v="285" actId="404"/>
          <ac:spMkLst>
            <pc:docMk/>
            <pc:sldMk cId="444547356" sldId="308"/>
            <ac:spMk id="601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7-26T04:04:21.164" v="237" actId="20577"/>
          <ac:spMkLst>
            <pc:docMk/>
            <pc:sldMk cId="444547356" sldId="308"/>
            <ac:spMk id="603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7-26T03:58:27.338" v="179" actId="20577"/>
          <ac:spMkLst>
            <pc:docMk/>
            <pc:sldMk cId="444547356" sldId="308"/>
            <ac:spMk id="615" creationId="{00000000-0000-0000-0000-000000000000}"/>
          </ac:spMkLst>
        </pc:spChg>
      </pc:sldChg>
      <pc:sldChg chg="modSp mod">
        <pc:chgData name="Maathavam Consulting" userId="6ee6a40a0106b3f1" providerId="LiveId" clId="{2D0F2F04-067F-4C37-B828-7D8EE8DC6936}" dt="2026-07-26T03:58:48.320" v="191" actId="20577"/>
        <pc:sldMkLst>
          <pc:docMk/>
          <pc:sldMk cId="3295451551" sldId="311"/>
        </pc:sldMkLst>
        <pc:spChg chg="mod">
          <ac:chgData name="Maathavam Consulting" userId="6ee6a40a0106b3f1" providerId="LiveId" clId="{2D0F2F04-067F-4C37-B828-7D8EE8DC6936}" dt="2026-07-26T03:58:48.320" v="191" actId="20577"/>
          <ac:spMkLst>
            <pc:docMk/>
            <pc:sldMk cId="3295451551" sldId="311"/>
            <ac:spMk id="824" creationId="{00000000-0000-0000-0000-000000000000}"/>
          </ac:spMkLst>
        </pc:spChg>
      </pc:sldChg>
      <pc:sldChg chg="add">
        <pc:chgData name="Maathavam Consulting" userId="6ee6a40a0106b3f1" providerId="LiveId" clId="{2D0F2F04-067F-4C37-B828-7D8EE8DC6936}" dt="2026-07-26T03:29:48.084" v="0"/>
        <pc:sldMkLst>
          <pc:docMk/>
          <pc:sldMk cId="1997428005" sldId="312"/>
        </pc:sldMkLst>
      </pc:sldChg>
      <pc:sldChg chg="modSp add mod">
        <pc:chgData name="Maathavam Consulting" userId="6ee6a40a0106b3f1" providerId="LiveId" clId="{2D0F2F04-067F-4C37-B828-7D8EE8DC6936}" dt="2026-07-26T03:58:09.165" v="165" actId="20577"/>
        <pc:sldMkLst>
          <pc:docMk/>
          <pc:sldMk cId="4238434720" sldId="314"/>
        </pc:sldMkLst>
        <pc:spChg chg="mod">
          <ac:chgData name="Maathavam Consulting" userId="6ee6a40a0106b3f1" providerId="LiveId" clId="{2D0F2F04-067F-4C37-B828-7D8EE8DC6936}" dt="2026-07-26T03:58:09.165" v="165" actId="20577"/>
          <ac:spMkLst>
            <pc:docMk/>
            <pc:sldMk cId="4238434720" sldId="314"/>
            <ac:spMk id="3" creationId="{02675984-BFEB-D314-EE85-C9D4C24AFB9A}"/>
          </ac:spMkLst>
        </pc:spChg>
        <pc:spChg chg="mod">
          <ac:chgData name="Maathavam Consulting" userId="6ee6a40a0106b3f1" providerId="LiveId" clId="{2D0F2F04-067F-4C37-B828-7D8EE8DC6936}" dt="2026-07-26T03:57:42.122" v="103" actId="1076"/>
          <ac:spMkLst>
            <pc:docMk/>
            <pc:sldMk cId="4238434720" sldId="314"/>
            <ac:spMk id="103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7-26T03:55:20.988" v="16" actId="20577"/>
          <ac:spMkLst>
            <pc:docMk/>
            <pc:sldMk cId="4238434720" sldId="314"/>
            <ac:spMk id="904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7-26T03:55:40.860" v="52" actId="6549"/>
          <ac:spMkLst>
            <pc:docMk/>
            <pc:sldMk cId="4238434720" sldId="314"/>
            <ac:spMk id="90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EE7C5-C556-4E20-A5A9-3CB1AC35AFBD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3FB3D-8746-4F51-9B36-B463E23F3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833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3FB3D-8746-4F51-9B36-B463E23F32C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972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3C5B-9095-6389-9B46-FA5AA6EF1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AE0FF-AB52-2B7D-9595-62D5586B8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7F5B3-1978-45C5-03AD-819E5782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4226-F8A8-4955-8750-37E0BDD4007D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5A93E-B65F-A7D8-B14A-5199771DD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96A4C-6829-26D8-F836-4DABA0FA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03-8149-4B5C-84F3-B4DFF238E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37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F91C-8B3C-8A6B-50CD-C159919E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96F4F-204E-BC38-3B83-E3C5F2242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E714C-079B-C594-80B6-EBC370F2C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4226-F8A8-4955-8750-37E0BDD4007D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B7D9E-9F51-D2DB-A3C0-CBA78E22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2B10C-6B12-8CEB-6E45-C3538BCC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03-8149-4B5C-84F3-B4DFF238E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46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0B0F-AC15-D042-E696-4F7F73F4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DC20B-EC57-CCAD-5819-44FF356A5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869D9-11F5-1C1E-C217-054813682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4226-F8A8-4955-8750-37E0BDD4007D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14598-007C-640D-0857-108F492E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986BA-5317-5C30-84C3-5CB4BF097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03-8149-4B5C-84F3-B4DFF238E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21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B216-091C-D391-386C-B24BDD872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4937A-04ED-2199-C715-B3D5889A7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A9246-C19F-4DD2-BD54-EB450FBB3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52329-FF44-5FA6-9D84-62886F4CA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4226-F8A8-4955-8750-37E0BDD4007D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26A63-371D-A754-26DC-02D4B16A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43D67-C8D5-8D2F-D34D-D515857CD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03-8149-4B5C-84F3-B4DFF238E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184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7336-75B2-731C-A305-6C607935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823F2-9163-3036-63A7-4701CEB17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09308-0DB7-B29E-631A-E67DC33CA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7C96C6-0C9C-97B1-2475-F7B28FA0BF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E267CF-C4CE-70E1-C374-4A60BA9A6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9AF08-2F98-2A72-5E7D-9D156C57A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4226-F8A8-4955-8750-37E0BDD4007D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C3DFD3-0329-1F4B-317B-6C2E30DCE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9DDB1-FA84-E581-C613-10F95C11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03-8149-4B5C-84F3-B4DFF238E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94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11E8-9866-AD4E-D7E3-0D4468AA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6E09A-2361-9836-BD53-9AEF4F89D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4226-F8A8-4955-8750-37E0BDD4007D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53118-8CD8-0D1C-7BBB-C287D8F8E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48BAA-AF09-4050-D034-632E2018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03-8149-4B5C-84F3-B4DFF238E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620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9E67DC-591B-1F2E-084F-E8E56CCD1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4226-F8A8-4955-8750-37E0BDD4007D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EB88E-2D41-2660-D666-375BCFB41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AA0FB-361F-2950-FE7C-1B9E5CDBD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03-8149-4B5C-84F3-B4DFF238E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404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96C1-A12B-9B25-2948-3EE5A63F6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BB9B0-6E92-4608-A7DB-B0F93FAC1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F7D67-B9E6-860F-5C40-F925A1377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69EFE-BF92-733F-7DF2-0A62F9126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4226-F8A8-4955-8750-37E0BDD4007D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C015A-7A30-87E0-3240-DF0B0706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B23EF-EABF-7123-CC96-3D840D0C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03-8149-4B5C-84F3-B4DFF238E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009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FF41-0E1A-C250-4F4D-EDE474E63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979B9E-D8D6-FF38-CF57-9F398C8A9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629B6E-198B-4B1D-2006-BB6624356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B4C90-5094-3692-5E17-609F41106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4226-F8A8-4955-8750-37E0BDD4007D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5CD5C-BD7A-F89A-3C12-BDBDC377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2531C-B1CB-E4EB-98B6-5863DC71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03-8149-4B5C-84F3-B4DFF238E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67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5064-7D9E-26BF-2683-094E574B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70E63-2317-F528-DD49-58EEBB2AF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70837-2028-FC30-B624-28E3A2CB4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4226-F8A8-4955-8750-37E0BDD4007D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E0FC1-20E1-BF4D-3378-B23A47E30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78FD8-7150-7DCD-6F84-FF197FD2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03-8149-4B5C-84F3-B4DFF238E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749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71786C-4F58-5076-8A03-1FEBF2ED56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0625C9-D5B5-B809-BD15-A511A16A4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1A9AA-336A-A124-DDD5-E5A0FC95F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4226-F8A8-4955-8750-37E0BDD4007D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6C016-0175-B9AF-F782-B20EA645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07203-B676-97B4-6E0E-801239B9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FD903-8149-4B5C-84F3-B4DFF238E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181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6FD97A-F4F5-A280-C9F6-F74C2524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D86A4-97EC-8CB8-608D-A851EB8F0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743D9-4938-4287-79D0-A92B72AFB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D4226-F8A8-4955-8750-37E0BDD4007D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5601C-E320-BEDC-704D-535B397B8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6C13F-74D5-4AC3-7420-193403DFC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FD903-8149-4B5C-84F3-B4DFF238EB6D}" type="slidenum">
              <a:rPr lang="en-IN" smtClean="0"/>
              <a:t>‹#›</a:t>
            </a:fld>
            <a:endParaRPr lang="en-IN"/>
          </a:p>
        </p:txBody>
      </p:sp>
      <p:sp>
        <p:nvSpPr>
          <p:cNvPr id="913" name="Masthead"/>
          <p:cNvSpPr/>
          <p:nvPr/>
        </p:nvSpPr>
        <p:spPr>
          <a:xfrm>
            <a:off x="-50800" y="0"/>
            <a:ext cx="12319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asthead Accent"/>
          <p:cNvSpPr/>
          <p:nvPr/>
        </p:nvSpPr>
        <p:spPr>
          <a:xfrm>
            <a:off x="0" y="0"/>
            <a:ext cx="2286000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4128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1182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7415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7415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7415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7415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7415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7415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7415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7415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7415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raj-m1705.github.io/Portfolio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2A3E4-64EA-B5E4-DA5A-92C06C419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00" y="1879600"/>
            <a:ext cx="6604000" cy="1320800"/>
          </a:xfrm>
        </p:spPr>
        <p:txBody>
          <a:bodyPr/>
          <a:lstStyle/>
          <a:p>
            <a:pPr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E3A8A"/>
                </a:solidFill>
              </a:rPr>
              <a:t>Strategic Transformation</a:t>
            </a:r>
          </a:p>
          <a:p>
            <a:pPr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E40AF"/>
                </a:solidFill>
              </a:rPr>
              <a:t>&amp; FCFO Leadership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75984-BFEB-D314-EE85-C9D4C24AF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0" y="3479800"/>
            <a:ext cx="6350000" cy="1168400"/>
          </a:xfrm>
        </p:spPr>
        <p:txBody>
          <a:bodyPr/>
          <a:lstStyle/>
          <a:p>
            <a:pPr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4B5563"/>
                </a:solidFill>
              </a:rPr>
              <a:t>Founder-led advisory that converts finance from a transactional function into the strategic value engine of the enterprise, supporting business leaders on outcomes</a:t>
            </a:r>
          </a:p>
        </p:txBody>
      </p:sp>
      <p:sp>
        <p:nvSpPr>
          <p:cNvPr id="101" name="R101"/>
          <p:cNvSpPr/>
          <p:nvPr/>
        </p:nvSpPr>
        <p:spPr>
          <a:xfrm>
            <a:off x="7874000" y="1397000"/>
            <a:ext cx="3505200" cy="431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102"/>
          <p:cNvSpPr/>
          <p:nvPr/>
        </p:nvSpPr>
        <p:spPr>
          <a:xfrm>
            <a:off x="7874000" y="1397000"/>
            <a:ext cx="3505200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103"/>
          <p:cNvSpPr txBox="1"/>
          <p:nvPr/>
        </p:nvSpPr>
        <p:spPr>
          <a:xfrm>
            <a:off x="812800" y="1365250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000" b="1" spc="200" dirty="0">
                <a:solidFill>
                  <a:srgbClr val="3B82F6"/>
                </a:solidFill>
              </a:rPr>
              <a:t>MAATHAVAM CONSULTING PRIVATE LIMITED</a:t>
            </a:r>
          </a:p>
        </p:txBody>
      </p:sp>
      <p:sp>
        <p:nvSpPr>
          <p:cNvPr id="104" name="R104"/>
          <p:cNvSpPr/>
          <p:nvPr/>
        </p:nvSpPr>
        <p:spPr>
          <a:xfrm>
            <a:off x="812800" y="3225800"/>
            <a:ext cx="121920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106"/>
          <p:cNvSpPr txBox="1"/>
          <p:nvPr/>
        </p:nvSpPr>
        <p:spPr>
          <a:xfrm>
            <a:off x="812800" y="6121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</a:rPr>
              <a:t>Company Profile  ·  2026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178800" y="1752600"/>
            <a:ext cx="2895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Rajkumar M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178800" y="2235200"/>
            <a:ext cx="289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93C5FD"/>
                </a:solidFill>
              </a:rPr>
              <a:t>Founder &amp; Managing Partner</a:t>
            </a:r>
          </a:p>
        </p:txBody>
      </p:sp>
      <p:sp>
        <p:nvSpPr>
          <p:cNvPr id="109" name="R109"/>
          <p:cNvSpPr/>
          <p:nvPr/>
        </p:nvSpPr>
        <p:spPr>
          <a:xfrm>
            <a:off x="8178800" y="2641600"/>
            <a:ext cx="6096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110"/>
          <p:cNvSpPr txBox="1"/>
          <p:nvPr/>
        </p:nvSpPr>
        <p:spPr>
          <a:xfrm>
            <a:off x="8178800" y="2870200"/>
            <a:ext cx="289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5E7EB"/>
                </a:solidFill>
              </a:rPr>
              <a:t>FCA · ICWA · CMA · CFM (US)</a:t>
            </a:r>
          </a:p>
          <a:p>
            <a:pPr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93C5FD"/>
                </a:solidFill>
              </a:rPr>
              <a:t>Six Sigma · Digital Transformation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178800" y="3657600"/>
            <a:ext cx="2895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60A5FA"/>
                </a:solidFill>
              </a:rPr>
              <a:t>30+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8178800" y="4191000"/>
            <a:ext cx="289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100" dirty="0">
                <a:solidFill>
                  <a:srgbClr val="93C5FD"/>
                </a:solidFill>
              </a:rPr>
              <a:t>YEARS OF LEADERSHIP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8178800" y="4597400"/>
            <a:ext cx="2895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5E7EB"/>
                </a:solidFill>
              </a:rPr>
              <a:t>Cognizant · Shell · Maersk</a:t>
            </a:r>
          </a:p>
          <a:p>
            <a:pPr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5E7EB"/>
                </a:solidFill>
              </a:rPr>
              <a:t>Standard Chartered · Agility</a:t>
            </a:r>
          </a:p>
        </p:txBody>
      </p:sp>
      <p:sp>
        <p:nvSpPr>
          <p:cNvPr id="901" name="R901"/>
          <p:cNvSpPr/>
          <p:nvPr/>
        </p:nvSpPr>
        <p:spPr>
          <a:xfrm>
            <a:off x="812800" y="4749800"/>
            <a:ext cx="2108200" cy="1219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R902"/>
          <p:cNvSpPr/>
          <p:nvPr/>
        </p:nvSpPr>
        <p:spPr>
          <a:xfrm>
            <a:off x="812800" y="4749800"/>
            <a:ext cx="2108200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3" name="T903"/>
          <p:cNvSpPr txBox="1"/>
          <p:nvPr/>
        </p:nvSpPr>
        <p:spPr>
          <a:xfrm>
            <a:off x="965200" y="4927600"/>
            <a:ext cx="1803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</a:pPr>
            <a:r>
              <a:rPr lang="en-US" sz="1400" b="1" spc="40" dirty="0">
                <a:solidFill>
                  <a:srgbClr val="1E40AF"/>
                </a:solidFill>
              </a:rPr>
              <a:t>LEADERSHIP</a:t>
            </a:r>
          </a:p>
        </p:txBody>
      </p:sp>
      <p:sp>
        <p:nvSpPr>
          <p:cNvPr id="904" name="T904"/>
          <p:cNvSpPr txBox="1"/>
          <p:nvPr/>
        </p:nvSpPr>
        <p:spPr>
          <a:xfrm>
            <a:off x="965200" y="5207000"/>
            <a:ext cx="1803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CXO-grade strength — 1000+ FTEs enabled globally</a:t>
            </a:r>
          </a:p>
        </p:txBody>
      </p:sp>
      <p:sp>
        <p:nvSpPr>
          <p:cNvPr id="905" name="R905"/>
          <p:cNvSpPr/>
          <p:nvPr/>
        </p:nvSpPr>
        <p:spPr>
          <a:xfrm>
            <a:off x="3060700" y="4749800"/>
            <a:ext cx="2108200" cy="1219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6" name="R906"/>
          <p:cNvSpPr/>
          <p:nvPr/>
        </p:nvSpPr>
        <p:spPr>
          <a:xfrm>
            <a:off x="3060700" y="4749800"/>
            <a:ext cx="2108200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7" name="T907"/>
          <p:cNvSpPr txBox="1"/>
          <p:nvPr/>
        </p:nvSpPr>
        <p:spPr>
          <a:xfrm>
            <a:off x="3213100" y="4927600"/>
            <a:ext cx="1803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</a:pPr>
            <a:r>
              <a:rPr lang="en-US" sz="1400" b="1" spc="40" dirty="0">
                <a:solidFill>
                  <a:srgbClr val="1E40AF"/>
                </a:solidFill>
              </a:rPr>
              <a:t>TRANSFORMATION</a:t>
            </a:r>
          </a:p>
        </p:txBody>
      </p:sp>
      <p:sp>
        <p:nvSpPr>
          <p:cNvPr id="908" name="T908"/>
          <p:cNvSpPr txBox="1"/>
          <p:nvPr/>
        </p:nvSpPr>
        <p:spPr>
          <a:xfrm>
            <a:off x="3213100" y="5207000"/>
            <a:ext cx="1803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End-to-end delivery — tangible efficiency gains</a:t>
            </a:r>
          </a:p>
        </p:txBody>
      </p:sp>
      <p:sp>
        <p:nvSpPr>
          <p:cNvPr id="909" name="R909"/>
          <p:cNvSpPr/>
          <p:nvPr/>
        </p:nvSpPr>
        <p:spPr>
          <a:xfrm>
            <a:off x="5308600" y="4749800"/>
            <a:ext cx="2108200" cy="1219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" name="R910"/>
          <p:cNvSpPr/>
          <p:nvPr/>
        </p:nvSpPr>
        <p:spPr>
          <a:xfrm>
            <a:off x="5308600" y="4749800"/>
            <a:ext cx="2108200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" name="T911"/>
          <p:cNvSpPr txBox="1"/>
          <p:nvPr/>
        </p:nvSpPr>
        <p:spPr>
          <a:xfrm>
            <a:off x="5461000" y="4927600"/>
            <a:ext cx="1803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</a:pPr>
            <a:r>
              <a:rPr lang="en-US" sz="1400" b="1" spc="40" dirty="0">
                <a:solidFill>
                  <a:srgbClr val="1E40AF"/>
                </a:solidFill>
              </a:rPr>
              <a:t>MULTI-INDUSTRY</a:t>
            </a:r>
          </a:p>
        </p:txBody>
      </p:sp>
      <p:sp>
        <p:nvSpPr>
          <p:cNvPr id="912" name="T912"/>
          <p:cNvSpPr txBox="1"/>
          <p:nvPr/>
        </p:nvSpPr>
        <p:spPr>
          <a:xfrm>
            <a:off x="5461000" y="5207000"/>
            <a:ext cx="1803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5+ industries — tech, energy, banking, logistics</a:t>
            </a:r>
          </a:p>
        </p:txBody>
      </p:sp>
    </p:spTree>
    <p:extLst>
      <p:ext uri="{BB962C8B-B14F-4D97-AF65-F5344CB8AC3E}">
        <p14:creationId xmlns:p14="http://schemas.microsoft.com/office/powerpoint/2010/main" val="423843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8F5DF-CD80-4343-5B01-21ACD5EEA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1E3A8A"/>
                </a:solidFill>
              </a:rPr>
              <a:t>What We Do for You &amp; Your Teams’ Success 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838200" y="406400"/>
            <a:ext cx="10515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400" b="1" spc="200" dirty="0">
                <a:solidFill>
                  <a:srgbClr val="3B82F6"/>
                </a:solidFill>
              </a:rPr>
              <a:t>SERVICE ARCHITECTURE</a:t>
            </a:r>
          </a:p>
        </p:txBody>
      </p:sp>
      <p:sp>
        <p:nvSpPr>
          <p:cNvPr id="102" name="T102"/>
          <p:cNvSpPr txBox="1"/>
          <p:nvPr/>
        </p:nvSpPr>
        <p:spPr>
          <a:xfrm>
            <a:off x="965200" y="1340644"/>
            <a:ext cx="1051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</a:rPr>
              <a:t>Six services, one accountable partner supported by a senior team — scoped to the stage and ambition of your business.</a:t>
            </a:r>
          </a:p>
        </p:txBody>
      </p:sp>
      <p:sp>
        <p:nvSpPr>
          <p:cNvPr id="103" name="N103"/>
          <p:cNvSpPr/>
          <p:nvPr/>
        </p:nvSpPr>
        <p:spPr>
          <a:xfrm>
            <a:off x="838200" y="1778000"/>
            <a:ext cx="482600" cy="4826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1524000" y="18034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1E3A8A"/>
                </a:solidFill>
              </a:rPr>
              <a:t>CFO &amp; Business Partnering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1524000" y="21590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Strategic financial leadership without the full-time cost; trusted advisor to CXOs on high-stakes decisions.</a:t>
            </a:r>
          </a:p>
        </p:txBody>
      </p:sp>
      <p:sp>
        <p:nvSpPr>
          <p:cNvPr id="106" name="R106"/>
          <p:cNvSpPr/>
          <p:nvPr/>
        </p:nvSpPr>
        <p:spPr>
          <a:xfrm>
            <a:off x="1524000" y="2946400"/>
            <a:ext cx="4445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N107"/>
          <p:cNvSpPr/>
          <p:nvPr/>
        </p:nvSpPr>
        <p:spPr>
          <a:xfrm>
            <a:off x="6223000" y="1778000"/>
            <a:ext cx="482600" cy="4826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6908800" y="18034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1E3A8A"/>
                </a:solidFill>
              </a:rPr>
              <a:t>Organisational Transformation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6908800" y="21590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Change leadership to modernise operations, deploy digital tools and build resilient, scalable structures.</a:t>
            </a:r>
          </a:p>
        </p:txBody>
      </p:sp>
      <p:sp>
        <p:nvSpPr>
          <p:cNvPr id="110" name="R110"/>
          <p:cNvSpPr/>
          <p:nvPr/>
        </p:nvSpPr>
        <p:spPr>
          <a:xfrm>
            <a:off x="6908800" y="2946400"/>
            <a:ext cx="4445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N111"/>
          <p:cNvSpPr/>
          <p:nvPr/>
        </p:nvSpPr>
        <p:spPr>
          <a:xfrm>
            <a:off x="838200" y="3098800"/>
            <a:ext cx="482600" cy="4826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524000" y="31242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1E3A8A"/>
                </a:solidFill>
              </a:rPr>
              <a:t>Program tailored support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524000" y="3479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End-to-end support for mergers, acquisitions, restructuring and post-deal integration.</a:t>
            </a:r>
          </a:p>
        </p:txBody>
      </p:sp>
      <p:sp>
        <p:nvSpPr>
          <p:cNvPr id="114" name="R114"/>
          <p:cNvSpPr/>
          <p:nvPr/>
        </p:nvSpPr>
        <p:spPr>
          <a:xfrm>
            <a:off x="1524000" y="4267200"/>
            <a:ext cx="4445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N115"/>
          <p:cNvSpPr/>
          <p:nvPr/>
        </p:nvSpPr>
        <p:spPr>
          <a:xfrm>
            <a:off x="6223000" y="3098800"/>
            <a:ext cx="482600" cy="4826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6908800" y="31242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1E3A8A"/>
                </a:solidFill>
              </a:rPr>
              <a:t>Cash Flow &amp; Cost Engineering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6908800" y="34798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Advanced cost engineering and working-capital management to free liquidity and fund growth.</a:t>
            </a:r>
          </a:p>
        </p:txBody>
      </p:sp>
      <p:sp>
        <p:nvSpPr>
          <p:cNvPr id="118" name="R118"/>
          <p:cNvSpPr/>
          <p:nvPr/>
        </p:nvSpPr>
        <p:spPr>
          <a:xfrm>
            <a:off x="6908800" y="4267200"/>
            <a:ext cx="4445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N119"/>
          <p:cNvSpPr/>
          <p:nvPr/>
        </p:nvSpPr>
        <p:spPr>
          <a:xfrm>
            <a:off x="838200" y="4419600"/>
            <a:ext cx="482600" cy="4826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524000" y="44450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1E3A8A"/>
                </a:solidFill>
              </a:rPr>
              <a:t>High-Performance Finance Teams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524000" y="48006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Building and mentoring teams, establishing competency frameworks and ensuring operational continuity.</a:t>
            </a:r>
          </a:p>
        </p:txBody>
      </p:sp>
      <p:sp>
        <p:nvSpPr>
          <p:cNvPr id="122" name="N122"/>
          <p:cNvSpPr/>
          <p:nvPr/>
        </p:nvSpPr>
        <p:spPr>
          <a:xfrm>
            <a:off x="6223000" y="4419600"/>
            <a:ext cx="482600" cy="4826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6908800" y="44450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1E3A8A"/>
                </a:solidFill>
              </a:rPr>
              <a:t>C-Suite &amp; Board Advisory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6908800" y="48006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Independent director services and executive sounding board to elevate governance and board oversight.</a:t>
            </a:r>
          </a:p>
        </p:txBody>
      </p:sp>
      <p:sp>
        <p:nvSpPr>
          <p:cNvPr id="125" name="R125"/>
          <p:cNvSpPr/>
          <p:nvPr/>
        </p:nvSpPr>
        <p:spPr>
          <a:xfrm>
            <a:off x="838200" y="5689600"/>
            <a:ext cx="10515600" cy="584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T126"/>
          <p:cNvSpPr txBox="1"/>
          <p:nvPr/>
        </p:nvSpPr>
        <p:spPr>
          <a:xfrm>
            <a:off x="1092200" y="5867400"/>
            <a:ext cx="1000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00" i="1" dirty="0">
                <a:solidFill>
                  <a:srgbClr val="FFFFFF"/>
                </a:solidFill>
              </a:rPr>
              <a:t>“Transforming finance from a transactional function into a strategic value engine.”</a:t>
            </a:r>
          </a:p>
        </p:txBody>
      </p:sp>
    </p:spTree>
    <p:extLst>
      <p:ext uri="{BB962C8B-B14F-4D97-AF65-F5344CB8AC3E}">
        <p14:creationId xmlns:p14="http://schemas.microsoft.com/office/powerpoint/2010/main" val="423149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HeroBand"/>
          <p:cNvSpPr/>
          <p:nvPr/>
        </p:nvSpPr>
        <p:spPr>
          <a:xfrm>
            <a:off x="0" y="177800"/>
            <a:ext cx="12192000" cy="1397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E6DFE-3F96-859E-C99A-28FBFF31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457200"/>
            <a:ext cx="7112000" cy="431800"/>
          </a:xfrm>
        </p:spPr>
        <p:txBody>
          <a:bodyPr/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Rajkumar Meenakshisundaram</a:t>
            </a:r>
          </a:p>
        </p:txBody>
      </p:sp>
      <p:sp>
        <p:nvSpPr>
          <p:cNvPr id="401" name="T401"/>
          <p:cNvSpPr txBox="1"/>
          <p:nvPr/>
        </p:nvSpPr>
        <p:spPr>
          <a:xfrm>
            <a:off x="6731000" y="508000"/>
            <a:ext cx="4622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500" b="1" spc="100" dirty="0">
                <a:solidFill>
                  <a:srgbClr val="FFFFFF"/>
                </a:solidFill>
              </a:rPr>
              <a:t>30+ YEARS EXPERIENCE</a:t>
            </a:r>
          </a:p>
        </p:txBody>
      </p:sp>
      <p:sp>
        <p:nvSpPr>
          <p:cNvPr id="402" name="T402"/>
          <p:cNvSpPr txBox="1"/>
          <p:nvPr/>
        </p:nvSpPr>
        <p:spPr>
          <a:xfrm>
            <a:off x="1778000" y="914400"/>
            <a:ext cx="609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93C5FD"/>
                </a:solidFill>
              </a:rPr>
              <a:t>Finance, Program Management &amp; Transformation Leader</a:t>
            </a:r>
          </a:p>
        </p:txBody>
      </p:sp>
      <p:sp>
        <p:nvSpPr>
          <p:cNvPr id="452" name="T452"/>
          <p:cNvSpPr txBox="1"/>
          <p:nvPr/>
        </p:nvSpPr>
        <p:spPr>
          <a:xfrm>
            <a:off x="838200" y="6350000"/>
            <a:ext cx="10515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spc="100" dirty="0">
                <a:solidFill>
                  <a:srgbClr val="6B7280"/>
                </a:solidFill>
              </a:rPr>
              <a:t>MAATHAVAM CONSULTING PRIVATE LIMITED  ·  COMPANY PROFILE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CEA80E-97E4-A162-1C11-F21A5AE39D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0" t="1300" r="91250" b="84500"/>
          <a:stretch>
            <a:fillRect/>
          </a:stretch>
        </p:blipFill>
        <p:spPr>
          <a:xfrm>
            <a:off x="838200" y="381000"/>
            <a:ext cx="736600" cy="990600"/>
          </a:xfrm>
          <a:prstGeom prst="rect">
            <a:avLst/>
          </a:prstGeom>
        </p:spPr>
      </p:pic>
      <p:sp>
        <p:nvSpPr>
          <p:cNvPr id="501" name="T501"/>
          <p:cNvSpPr txBox="1"/>
          <p:nvPr/>
        </p:nvSpPr>
        <p:spPr>
          <a:xfrm>
            <a:off x="1778000" y="1219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DBEAFE"/>
                </a:solidFill>
              </a:rPr>
              <a:t>+91 98407 64537   ·   +91 93636 34537</a:t>
            </a:r>
          </a:p>
        </p:txBody>
      </p:sp>
      <p:sp>
        <p:nvSpPr>
          <p:cNvPr id="502" name="T502"/>
          <p:cNvSpPr txBox="1"/>
          <p:nvPr/>
        </p:nvSpPr>
        <p:spPr>
          <a:xfrm>
            <a:off x="6731000" y="8382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buNone/>
            </a:pPr>
            <a:r>
              <a:rPr lang="en-US" sz="1400" spc="100" dirty="0">
                <a:solidFill>
                  <a:srgbClr val="93C5FD"/>
                </a:solidFill>
              </a:rPr>
              <a:t>FINANCE &amp; OPERATIONS EXCELLENCE</a:t>
            </a:r>
          </a:p>
        </p:txBody>
      </p:sp>
      <p:sp>
        <p:nvSpPr>
          <p:cNvPr id="601" name="T601"/>
          <p:cNvSpPr txBox="1"/>
          <p:nvPr/>
        </p:nvSpPr>
        <p:spPr>
          <a:xfrm>
            <a:off x="838200" y="1803400"/>
            <a:ext cx="6324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ts val="2000"/>
              </a:lnSpc>
            </a:pPr>
            <a:r>
              <a:rPr lang="en-US" sz="1500" dirty="0">
                <a:solidFill>
                  <a:srgbClr val="374151"/>
                </a:solidFill>
              </a:rPr>
              <a:t>Strategic finance leader who converts finance functions into strategic value engines — leading global programs, transformation and operations excellence with end-to-end delivery and stakeholder value creation. Focused on business success. </a:t>
            </a:r>
            <a:r>
              <a:rPr lang="en-IN" sz="1400" dirty="0">
                <a:hlinkClick r:id="rId4"/>
              </a:rPr>
              <a:t>Rajkumar Meenakshisundaram - Portfolio</a:t>
            </a:r>
            <a:endParaRPr lang="en-US" sz="1500" dirty="0">
              <a:solidFill>
                <a:srgbClr val="374151"/>
              </a:solidFill>
            </a:endParaRPr>
          </a:p>
        </p:txBody>
      </p:sp>
      <p:sp>
        <p:nvSpPr>
          <p:cNvPr id="602" name="R602"/>
          <p:cNvSpPr/>
          <p:nvPr/>
        </p:nvSpPr>
        <p:spPr>
          <a:xfrm>
            <a:off x="838200" y="3022600"/>
            <a:ext cx="6324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T603"/>
          <p:cNvSpPr txBox="1"/>
          <p:nvPr/>
        </p:nvSpPr>
        <p:spPr>
          <a:xfrm>
            <a:off x="838200" y="3175000"/>
            <a:ext cx="6324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3A8A"/>
                </a:solidFill>
              </a:rPr>
              <a:t>Strategic Leadership  ·  Change Management &amp; Transformation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3A8A"/>
                </a:solidFill>
              </a:rPr>
              <a:t>Process Optimisation  ·  Stakeholder Engagement</a:t>
            </a:r>
          </a:p>
        </p:txBody>
      </p:sp>
      <p:sp>
        <p:nvSpPr>
          <p:cNvPr id="604" name="R604"/>
          <p:cNvSpPr/>
          <p:nvPr/>
        </p:nvSpPr>
        <p:spPr>
          <a:xfrm>
            <a:off x="838200" y="3810000"/>
            <a:ext cx="2006600" cy="812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R605"/>
          <p:cNvSpPr/>
          <p:nvPr/>
        </p:nvSpPr>
        <p:spPr>
          <a:xfrm>
            <a:off x="838200" y="3810000"/>
            <a:ext cx="2006600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T606"/>
          <p:cNvSpPr txBox="1"/>
          <p:nvPr/>
        </p:nvSpPr>
        <p:spPr>
          <a:xfrm>
            <a:off x="1041400" y="3937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1E40AF"/>
                </a:solidFill>
              </a:rPr>
              <a:t>30+</a:t>
            </a:r>
          </a:p>
        </p:txBody>
      </p:sp>
      <p:sp>
        <p:nvSpPr>
          <p:cNvPr id="607" name="T607"/>
          <p:cNvSpPr txBox="1"/>
          <p:nvPr/>
        </p:nvSpPr>
        <p:spPr>
          <a:xfrm>
            <a:off x="1041400" y="43434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4B5563"/>
                </a:solidFill>
              </a:rPr>
              <a:t>YEARS EXPERIENCE</a:t>
            </a:r>
          </a:p>
        </p:txBody>
      </p:sp>
      <p:sp>
        <p:nvSpPr>
          <p:cNvPr id="608" name="R608"/>
          <p:cNvSpPr/>
          <p:nvPr/>
        </p:nvSpPr>
        <p:spPr>
          <a:xfrm>
            <a:off x="2997200" y="3810000"/>
            <a:ext cx="2006600" cy="812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R609"/>
          <p:cNvSpPr/>
          <p:nvPr/>
        </p:nvSpPr>
        <p:spPr>
          <a:xfrm>
            <a:off x="2997200" y="3810000"/>
            <a:ext cx="2006600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T610"/>
          <p:cNvSpPr txBox="1"/>
          <p:nvPr/>
        </p:nvSpPr>
        <p:spPr>
          <a:xfrm>
            <a:off x="3200400" y="3937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1E40AF"/>
                </a:solidFill>
              </a:rPr>
              <a:t>5+</a:t>
            </a:r>
          </a:p>
        </p:txBody>
      </p:sp>
      <p:sp>
        <p:nvSpPr>
          <p:cNvPr id="611" name="T611"/>
          <p:cNvSpPr txBox="1"/>
          <p:nvPr/>
        </p:nvSpPr>
        <p:spPr>
          <a:xfrm>
            <a:off x="3200400" y="43434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4B5563"/>
                </a:solidFill>
              </a:rPr>
              <a:t>INDUSTRIES</a:t>
            </a:r>
          </a:p>
        </p:txBody>
      </p:sp>
      <p:sp>
        <p:nvSpPr>
          <p:cNvPr id="612" name="R612"/>
          <p:cNvSpPr/>
          <p:nvPr/>
        </p:nvSpPr>
        <p:spPr>
          <a:xfrm>
            <a:off x="5156200" y="3810000"/>
            <a:ext cx="2006600" cy="812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R613"/>
          <p:cNvSpPr/>
          <p:nvPr/>
        </p:nvSpPr>
        <p:spPr>
          <a:xfrm>
            <a:off x="5156200" y="3810000"/>
            <a:ext cx="2006600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T614"/>
          <p:cNvSpPr txBox="1"/>
          <p:nvPr/>
        </p:nvSpPr>
        <p:spPr>
          <a:xfrm>
            <a:off x="5359400" y="3937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1E40AF"/>
                </a:solidFill>
              </a:rPr>
              <a:t>100+</a:t>
            </a:r>
          </a:p>
        </p:txBody>
      </p:sp>
      <p:sp>
        <p:nvSpPr>
          <p:cNvPr id="615" name="T615"/>
          <p:cNvSpPr txBox="1"/>
          <p:nvPr/>
        </p:nvSpPr>
        <p:spPr>
          <a:xfrm>
            <a:off x="5359400" y="43434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4B5563"/>
                </a:solidFill>
              </a:rPr>
              <a:t>FTEs ENABLED</a:t>
            </a:r>
          </a:p>
        </p:txBody>
      </p:sp>
      <p:sp>
        <p:nvSpPr>
          <p:cNvPr id="616" name="R616"/>
          <p:cNvSpPr/>
          <p:nvPr/>
        </p:nvSpPr>
        <p:spPr>
          <a:xfrm>
            <a:off x="838200" y="4826000"/>
            <a:ext cx="6324600" cy="1320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7" name="R617"/>
          <p:cNvSpPr/>
          <p:nvPr/>
        </p:nvSpPr>
        <p:spPr>
          <a:xfrm>
            <a:off x="838200" y="4826000"/>
            <a:ext cx="76200" cy="132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8" name="T618"/>
          <p:cNvSpPr txBox="1"/>
          <p:nvPr/>
        </p:nvSpPr>
        <p:spPr>
          <a:xfrm>
            <a:off x="1168400" y="5029200"/>
            <a:ext cx="5740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en-US" sz="1500" i="1" dirty="0">
                <a:solidFill>
                  <a:srgbClr val="FFFFFF"/>
                </a:solidFill>
              </a:rPr>
              <a:t>“Raj was resilient during 2020. He demonstrated true leadership while navigating a demanding agenda.”</a:t>
            </a:r>
          </a:p>
        </p:txBody>
      </p:sp>
      <p:sp>
        <p:nvSpPr>
          <p:cNvPr id="619" name="T619"/>
          <p:cNvSpPr txBox="1"/>
          <p:nvPr/>
        </p:nvSpPr>
        <p:spPr>
          <a:xfrm>
            <a:off x="1168400" y="5791200"/>
            <a:ext cx="574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93C5FD"/>
                </a:solidFill>
              </a:rPr>
              <a:t>— SVP Finance, Agility</a:t>
            </a:r>
          </a:p>
        </p:txBody>
      </p:sp>
      <p:sp>
        <p:nvSpPr>
          <p:cNvPr id="620" name="R620"/>
          <p:cNvSpPr/>
          <p:nvPr/>
        </p:nvSpPr>
        <p:spPr>
          <a:xfrm>
            <a:off x="7416800" y="1803400"/>
            <a:ext cx="3937000" cy="4343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1" name="R621"/>
          <p:cNvSpPr/>
          <p:nvPr/>
        </p:nvSpPr>
        <p:spPr>
          <a:xfrm>
            <a:off x="7416800" y="1803400"/>
            <a:ext cx="3937000" cy="50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2" name="T622"/>
          <p:cNvSpPr txBox="1"/>
          <p:nvPr/>
        </p:nvSpPr>
        <p:spPr>
          <a:xfrm>
            <a:off x="7670800" y="2006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spc="120" dirty="0">
                <a:solidFill>
                  <a:srgbClr val="3B82F6"/>
                </a:solidFill>
              </a:rPr>
              <a:t>CREDENTIALS &amp; GOVERNANCE</a:t>
            </a:r>
          </a:p>
        </p:txBody>
      </p:sp>
      <p:sp>
        <p:nvSpPr>
          <p:cNvPr id="623" name="R623"/>
          <p:cNvSpPr/>
          <p:nvPr/>
        </p:nvSpPr>
        <p:spPr>
          <a:xfrm>
            <a:off x="7708900" y="2489200"/>
            <a:ext cx="25400" cy="29718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4" name="R624"/>
          <p:cNvSpPr/>
          <p:nvPr/>
        </p:nvSpPr>
        <p:spPr>
          <a:xfrm>
            <a:off x="7645400" y="2463800"/>
            <a:ext cx="152400" cy="1524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5" name="T625"/>
          <p:cNvSpPr txBox="1"/>
          <p:nvPr/>
        </p:nvSpPr>
        <p:spPr>
          <a:xfrm>
            <a:off x="7924800" y="24130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E40AF"/>
                </a:solidFill>
              </a:rPr>
              <a:t>2023</a:t>
            </a:r>
          </a:p>
        </p:txBody>
      </p:sp>
      <p:sp>
        <p:nvSpPr>
          <p:cNvPr id="626" name="T626"/>
          <p:cNvSpPr txBox="1"/>
          <p:nvPr/>
        </p:nvSpPr>
        <p:spPr>
          <a:xfrm>
            <a:off x="8585200" y="24257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Independent Director</a:t>
            </a:r>
          </a:p>
        </p:txBody>
      </p:sp>
      <p:sp>
        <p:nvSpPr>
          <p:cNvPr id="627" name="T627"/>
          <p:cNvSpPr txBox="1"/>
          <p:nvPr/>
        </p:nvSpPr>
        <p:spPr>
          <a:xfrm>
            <a:off x="8585200" y="2667000"/>
            <a:ext cx="251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</a:rPr>
              <a:t>Ministry of Corporate Affairs</a:t>
            </a:r>
          </a:p>
        </p:txBody>
      </p:sp>
      <p:sp>
        <p:nvSpPr>
          <p:cNvPr id="628" name="R628"/>
          <p:cNvSpPr/>
          <p:nvPr/>
        </p:nvSpPr>
        <p:spPr>
          <a:xfrm>
            <a:off x="7645400" y="3060700"/>
            <a:ext cx="152400" cy="1524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9" name="T629"/>
          <p:cNvSpPr txBox="1"/>
          <p:nvPr/>
        </p:nvSpPr>
        <p:spPr>
          <a:xfrm>
            <a:off x="7924800" y="30099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E40AF"/>
                </a:solidFill>
              </a:rPr>
              <a:t>2022</a:t>
            </a:r>
          </a:p>
        </p:txBody>
      </p:sp>
      <p:sp>
        <p:nvSpPr>
          <p:cNvPr id="630" name="T630"/>
          <p:cNvSpPr txBox="1"/>
          <p:nvPr/>
        </p:nvSpPr>
        <p:spPr>
          <a:xfrm>
            <a:off x="8585200" y="30226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Digital Transformation</a:t>
            </a:r>
          </a:p>
        </p:txBody>
      </p:sp>
      <p:sp>
        <p:nvSpPr>
          <p:cNvPr id="631" name="T631"/>
          <p:cNvSpPr txBox="1"/>
          <p:nvPr/>
        </p:nvSpPr>
        <p:spPr>
          <a:xfrm>
            <a:off x="8585200" y="3263900"/>
            <a:ext cx="251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</a:rPr>
              <a:t>Indian School of Business</a:t>
            </a:r>
          </a:p>
        </p:txBody>
      </p:sp>
      <p:sp>
        <p:nvSpPr>
          <p:cNvPr id="632" name="R632"/>
          <p:cNvSpPr/>
          <p:nvPr/>
        </p:nvSpPr>
        <p:spPr>
          <a:xfrm>
            <a:off x="7645400" y="3657600"/>
            <a:ext cx="152400" cy="1524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T633"/>
          <p:cNvSpPr txBox="1"/>
          <p:nvPr/>
        </p:nvSpPr>
        <p:spPr>
          <a:xfrm>
            <a:off x="7924800" y="36068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E40AF"/>
                </a:solidFill>
              </a:rPr>
              <a:t>2009</a:t>
            </a:r>
          </a:p>
        </p:txBody>
      </p:sp>
      <p:sp>
        <p:nvSpPr>
          <p:cNvPr id="634" name="T634"/>
          <p:cNvSpPr txBox="1"/>
          <p:nvPr/>
        </p:nvSpPr>
        <p:spPr>
          <a:xfrm>
            <a:off x="8585200" y="36195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Six Sigma Green Belt</a:t>
            </a:r>
          </a:p>
        </p:txBody>
      </p:sp>
      <p:sp>
        <p:nvSpPr>
          <p:cNvPr id="635" name="T635"/>
          <p:cNvSpPr txBox="1"/>
          <p:nvPr/>
        </p:nvSpPr>
        <p:spPr>
          <a:xfrm>
            <a:off x="8585200" y="3860800"/>
            <a:ext cx="251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</a:rPr>
              <a:t>Process excellence</a:t>
            </a:r>
          </a:p>
        </p:txBody>
      </p:sp>
      <p:sp>
        <p:nvSpPr>
          <p:cNvPr id="636" name="R636"/>
          <p:cNvSpPr/>
          <p:nvPr/>
        </p:nvSpPr>
        <p:spPr>
          <a:xfrm>
            <a:off x="7645400" y="4254500"/>
            <a:ext cx="152400" cy="1524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T637"/>
          <p:cNvSpPr txBox="1"/>
          <p:nvPr/>
        </p:nvSpPr>
        <p:spPr>
          <a:xfrm>
            <a:off x="7924800" y="42037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E40AF"/>
                </a:solidFill>
              </a:rPr>
              <a:t>2004</a:t>
            </a:r>
          </a:p>
        </p:txBody>
      </p:sp>
      <p:sp>
        <p:nvSpPr>
          <p:cNvPr id="638" name="T638"/>
          <p:cNvSpPr txBox="1"/>
          <p:nvPr/>
        </p:nvSpPr>
        <p:spPr>
          <a:xfrm>
            <a:off x="8585200" y="42164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CMA &amp; CFM (US)</a:t>
            </a:r>
          </a:p>
        </p:txBody>
      </p:sp>
      <p:sp>
        <p:nvSpPr>
          <p:cNvPr id="639" name="T639"/>
          <p:cNvSpPr txBox="1"/>
          <p:nvPr/>
        </p:nvSpPr>
        <p:spPr>
          <a:xfrm>
            <a:off x="8585200" y="4457700"/>
            <a:ext cx="251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</a:rPr>
              <a:t>Management accounting</a:t>
            </a:r>
          </a:p>
        </p:txBody>
      </p:sp>
      <p:sp>
        <p:nvSpPr>
          <p:cNvPr id="640" name="R640"/>
          <p:cNvSpPr/>
          <p:nvPr/>
        </p:nvSpPr>
        <p:spPr>
          <a:xfrm>
            <a:off x="7645400" y="4851400"/>
            <a:ext cx="152400" cy="1524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T641"/>
          <p:cNvSpPr txBox="1"/>
          <p:nvPr/>
        </p:nvSpPr>
        <p:spPr>
          <a:xfrm>
            <a:off x="7924800" y="48006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E40AF"/>
                </a:solidFill>
              </a:rPr>
              <a:t>1996</a:t>
            </a:r>
          </a:p>
        </p:txBody>
      </p:sp>
      <p:sp>
        <p:nvSpPr>
          <p:cNvPr id="642" name="T642"/>
          <p:cNvSpPr txBox="1"/>
          <p:nvPr/>
        </p:nvSpPr>
        <p:spPr>
          <a:xfrm>
            <a:off x="8585200" y="48133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FCA</a:t>
            </a:r>
          </a:p>
        </p:txBody>
      </p:sp>
      <p:sp>
        <p:nvSpPr>
          <p:cNvPr id="643" name="T643"/>
          <p:cNvSpPr txBox="1"/>
          <p:nvPr/>
        </p:nvSpPr>
        <p:spPr>
          <a:xfrm>
            <a:off x="8585200" y="5054600"/>
            <a:ext cx="251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</a:rPr>
              <a:t>Chartered Accountant, India</a:t>
            </a:r>
          </a:p>
        </p:txBody>
      </p:sp>
      <p:sp>
        <p:nvSpPr>
          <p:cNvPr id="644" name="R644"/>
          <p:cNvSpPr/>
          <p:nvPr/>
        </p:nvSpPr>
        <p:spPr>
          <a:xfrm>
            <a:off x="7645400" y="5448300"/>
            <a:ext cx="152400" cy="1524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T645"/>
          <p:cNvSpPr txBox="1"/>
          <p:nvPr/>
        </p:nvSpPr>
        <p:spPr>
          <a:xfrm>
            <a:off x="7924800" y="53975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E40AF"/>
                </a:solidFill>
              </a:rPr>
              <a:t>1994</a:t>
            </a:r>
          </a:p>
        </p:txBody>
      </p:sp>
      <p:sp>
        <p:nvSpPr>
          <p:cNvPr id="646" name="T646"/>
          <p:cNvSpPr txBox="1"/>
          <p:nvPr/>
        </p:nvSpPr>
        <p:spPr>
          <a:xfrm>
            <a:off x="8585200" y="54102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ICWA</a:t>
            </a:r>
          </a:p>
        </p:txBody>
      </p:sp>
      <p:sp>
        <p:nvSpPr>
          <p:cNvPr id="647" name="T647"/>
          <p:cNvSpPr txBox="1"/>
          <p:nvPr/>
        </p:nvSpPr>
        <p:spPr>
          <a:xfrm>
            <a:off x="8585200" y="5651500"/>
            <a:ext cx="251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</a:rPr>
              <a:t>Cost Accountant</a:t>
            </a:r>
          </a:p>
        </p:txBody>
      </p:sp>
    </p:spTree>
    <p:extLst>
      <p:ext uri="{BB962C8B-B14F-4D97-AF65-F5344CB8AC3E}">
        <p14:creationId xmlns:p14="http://schemas.microsoft.com/office/powerpoint/2010/main" val="44454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10BA-4ED6-4FCD-2B17-18299B135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1E3A8A"/>
                </a:solidFill>
              </a:rPr>
              <a:t>Led from the Front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838200" y="431800"/>
            <a:ext cx="10515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400" b="1" spc="200" dirty="0">
                <a:solidFill>
                  <a:srgbClr val="3B82F6"/>
                </a:solidFill>
              </a:rPr>
              <a:t>  LEADERSHIP TEAM</a:t>
            </a:r>
          </a:p>
        </p:txBody>
      </p:sp>
      <p:sp>
        <p:nvSpPr>
          <p:cNvPr id="102" name="T102"/>
          <p:cNvSpPr txBox="1"/>
          <p:nvPr/>
        </p:nvSpPr>
        <p:spPr>
          <a:xfrm>
            <a:off x="838200" y="1270000"/>
            <a:ext cx="1051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dirty="0">
                <a:solidFill>
                  <a:srgbClr val="6B7280"/>
                </a:solidFill>
              </a:rPr>
              <a:t>  Every mandate is supported by a great team — senior finance and transformation specialists with global pedigree.</a:t>
            </a:r>
          </a:p>
        </p:txBody>
      </p:sp>
      <p:sp>
        <p:nvSpPr>
          <p:cNvPr id="109" name="R109"/>
          <p:cNvSpPr/>
          <p:nvPr/>
        </p:nvSpPr>
        <p:spPr>
          <a:xfrm>
            <a:off x="838200" y="1905000"/>
            <a:ext cx="3327400" cy="3937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R110"/>
          <p:cNvSpPr/>
          <p:nvPr/>
        </p:nvSpPr>
        <p:spPr>
          <a:xfrm>
            <a:off x="838200" y="1905000"/>
            <a:ext cx="3327400" cy="635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T111"/>
          <p:cNvSpPr txBox="1"/>
          <p:nvPr/>
        </p:nvSpPr>
        <p:spPr>
          <a:xfrm>
            <a:off x="1092200" y="3403600"/>
            <a:ext cx="2819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E3A8A"/>
                </a:solidFill>
              </a:rPr>
              <a:t>Srinivas Sharma M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092200" y="37846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40AF"/>
                </a:solidFill>
              </a:rPr>
              <a:t>23+ Yrs  ·  ACA · Six Sigma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092200" y="4089400"/>
            <a:ext cx="2819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6B7280"/>
                </a:solidFill>
              </a:rPr>
              <a:t>Genpact · IBM · Agility</a:t>
            </a:r>
          </a:p>
        </p:txBody>
      </p:sp>
      <p:sp>
        <p:nvSpPr>
          <p:cNvPr id="114" name="R114"/>
          <p:cNvSpPr/>
          <p:nvPr/>
        </p:nvSpPr>
        <p:spPr>
          <a:xfrm>
            <a:off x="1092200" y="4648200"/>
            <a:ext cx="50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116"/>
          <p:cNvSpPr txBox="1"/>
          <p:nvPr/>
        </p:nvSpPr>
        <p:spPr>
          <a:xfrm>
            <a:off x="1092200" y="4851400"/>
            <a:ext cx="2819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52400" indent="-152400">
              <a:lnSpc>
                <a:spcPts val="1600"/>
              </a:lnSpc>
              <a:buFont typeface="Arial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Finance &amp; accounting operations</a:t>
            </a:r>
          </a:p>
          <a:p>
            <a:pPr marL="152400" indent="-152400">
              <a:lnSpc>
                <a:spcPts val="1600"/>
              </a:lnSpc>
              <a:buFont typeface="Arial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Service delivery leadership</a:t>
            </a:r>
          </a:p>
          <a:p>
            <a:pPr marL="152400" indent="-152400">
              <a:lnSpc>
                <a:spcPts val="1600"/>
              </a:lnSpc>
              <a:buFont typeface="Arial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Process optimisation</a:t>
            </a:r>
          </a:p>
          <a:p>
            <a:pPr marL="152400" indent="-152400">
              <a:lnSpc>
                <a:spcPts val="1600"/>
              </a:lnSpc>
              <a:buFont typeface="Arial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High-performance teams</a:t>
            </a:r>
          </a:p>
        </p:txBody>
      </p:sp>
      <p:sp>
        <p:nvSpPr>
          <p:cNvPr id="117" name="R117"/>
          <p:cNvSpPr/>
          <p:nvPr/>
        </p:nvSpPr>
        <p:spPr>
          <a:xfrm>
            <a:off x="4432300" y="1905000"/>
            <a:ext cx="3327400" cy="3937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R118"/>
          <p:cNvSpPr/>
          <p:nvPr/>
        </p:nvSpPr>
        <p:spPr>
          <a:xfrm>
            <a:off x="4432300" y="1905000"/>
            <a:ext cx="3327400" cy="635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T119"/>
          <p:cNvSpPr txBox="1"/>
          <p:nvPr/>
        </p:nvSpPr>
        <p:spPr>
          <a:xfrm>
            <a:off x="4686300" y="3403600"/>
            <a:ext cx="2819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E3A8A"/>
                </a:solidFill>
              </a:rPr>
              <a:t>Deepa Kumar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4686300" y="37846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40AF"/>
                </a:solidFill>
              </a:rPr>
              <a:t>22+ Yrs  ·  ACA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4686300" y="4089400"/>
            <a:ext cx="2819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6B7280"/>
                </a:solidFill>
              </a:rPr>
              <a:t>Cognizant · Standard Chartered · Maersk · Accenture</a:t>
            </a:r>
          </a:p>
        </p:txBody>
      </p:sp>
      <p:sp>
        <p:nvSpPr>
          <p:cNvPr id="122" name="R122"/>
          <p:cNvSpPr/>
          <p:nvPr/>
        </p:nvSpPr>
        <p:spPr>
          <a:xfrm>
            <a:off x="4686300" y="4648200"/>
            <a:ext cx="50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T124"/>
          <p:cNvSpPr txBox="1"/>
          <p:nvPr/>
        </p:nvSpPr>
        <p:spPr>
          <a:xfrm>
            <a:off x="4686300" y="4851400"/>
            <a:ext cx="2819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52400" indent="-152400">
              <a:lnSpc>
                <a:spcPts val="1600"/>
              </a:lnSpc>
              <a:buFont typeface="Arial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Metrics &amp; scorecards</a:t>
            </a:r>
          </a:p>
          <a:p>
            <a:pPr marL="152400" indent="-152400">
              <a:lnSpc>
                <a:spcPts val="1600"/>
              </a:lnSpc>
              <a:buFont typeface="Arial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Business finance partnering</a:t>
            </a:r>
          </a:p>
          <a:p>
            <a:pPr marL="152400" indent="-152400">
              <a:lnSpc>
                <a:spcPts val="1600"/>
              </a:lnSpc>
              <a:buFont typeface="Arial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Systems integration</a:t>
            </a:r>
          </a:p>
          <a:p>
            <a:pPr marL="152400" indent="-152400">
              <a:lnSpc>
                <a:spcPts val="1600"/>
              </a:lnSpc>
              <a:buFont typeface="Arial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Shared services delivery</a:t>
            </a:r>
          </a:p>
        </p:txBody>
      </p:sp>
      <p:sp>
        <p:nvSpPr>
          <p:cNvPr id="125" name="R125"/>
          <p:cNvSpPr/>
          <p:nvPr/>
        </p:nvSpPr>
        <p:spPr>
          <a:xfrm>
            <a:off x="8026400" y="1905000"/>
            <a:ext cx="3327400" cy="393700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T126"/>
          <p:cNvSpPr txBox="1"/>
          <p:nvPr/>
        </p:nvSpPr>
        <p:spPr>
          <a:xfrm>
            <a:off x="8280400" y="3403600"/>
            <a:ext cx="2819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US" sz="1900" b="1" dirty="0">
                <a:solidFill>
                  <a:srgbClr val="1E3A8A"/>
                </a:solidFill>
              </a:rPr>
              <a:t>Sinduja Kamalvishnu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8280400" y="37846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1E40AF"/>
                </a:solidFill>
              </a:rPr>
              <a:t>22+ Yrs  ·  ACA . Lean Sigma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8280400" y="4851400"/>
            <a:ext cx="2819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52400" indent="-152400">
              <a:lnSpc>
                <a:spcPts val="1600"/>
              </a:lnSpc>
              <a:buFont typeface="Arial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Finance shared services &amp; RTR</a:t>
            </a:r>
          </a:p>
          <a:p>
            <a:pPr marL="152400" indent="-152400">
              <a:lnSpc>
                <a:spcPts val="1600"/>
              </a:lnSpc>
              <a:buFont typeface="Arial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FP&amp;A, budgeting &amp; analysis</a:t>
            </a:r>
          </a:p>
          <a:p>
            <a:pPr marL="152400" indent="-152400">
              <a:lnSpc>
                <a:spcPts val="1600"/>
              </a:lnSpc>
              <a:buFont typeface="Arial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Lean &amp; process excellence</a:t>
            </a:r>
          </a:p>
          <a:p>
            <a:pPr marL="152400" indent="-152400">
              <a:lnSpc>
                <a:spcPts val="1600"/>
              </a:lnSpc>
              <a:buFont typeface="Arial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Global teams of 60+ members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838200" y="6172200"/>
            <a:ext cx="10515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spc="100" dirty="0">
                <a:solidFill>
                  <a:srgbClr val="6B7280"/>
                </a:solidFill>
              </a:rPr>
              <a:t>MAATHAVAM CONSULTING PRIVATE LIMITED  ·  COMPANY PROFILE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3D3FF3-4916-7E83-AE9C-9D0A26EFB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56" y="2209800"/>
            <a:ext cx="889889" cy="101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62EB59-6167-AF96-3110-1F99C3A04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435" y="2209800"/>
            <a:ext cx="950130" cy="1016000"/>
          </a:xfrm>
          <a:prstGeom prst="rect">
            <a:avLst/>
          </a:prstGeom>
        </p:spPr>
      </p:pic>
      <p:sp>
        <p:nvSpPr>
          <p:cNvPr id="310" name="R310"/>
          <p:cNvSpPr/>
          <p:nvPr/>
        </p:nvSpPr>
        <p:spPr>
          <a:xfrm>
            <a:off x="8026400" y="1905000"/>
            <a:ext cx="3327400" cy="635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5" name="Image 1">
            <a:extLst>
              <a:ext uri="{FF2B5EF4-FFF2-40B4-BE49-F238E27FC236}">
                <a16:creationId xmlns:a16="http://schemas.microsoft.com/office/drawing/2014/main" id="{C3B4A5AB-3400-8CAF-3B75-9E29A6F8C614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280400" y="2209800"/>
            <a:ext cx="1102594" cy="1016000"/>
          </a:xfrm>
          <a:prstGeom prst="rect">
            <a:avLst/>
          </a:prstGeom>
        </p:spPr>
      </p:pic>
      <p:sp>
        <p:nvSpPr>
          <p:cNvPr id="11" name="R122">
            <a:extLst>
              <a:ext uri="{FF2B5EF4-FFF2-40B4-BE49-F238E27FC236}">
                <a16:creationId xmlns:a16="http://schemas.microsoft.com/office/drawing/2014/main" id="{AE2F012B-63B1-743E-6093-CE749D10D3CE}"/>
              </a:ext>
            </a:extLst>
          </p:cNvPr>
          <p:cNvSpPr/>
          <p:nvPr/>
        </p:nvSpPr>
        <p:spPr>
          <a:xfrm>
            <a:off x="8280400" y="4648200"/>
            <a:ext cx="50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T320"/>
          <p:cNvSpPr txBox="1"/>
          <p:nvPr/>
        </p:nvSpPr>
        <p:spPr>
          <a:xfrm>
            <a:off x="8280400" y="4089400"/>
            <a:ext cx="2819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6B7280"/>
                </a:solidFill>
              </a:rPr>
              <a:t>Trane Technologies · Philips · Cognizant · Shell</a:t>
            </a:r>
          </a:p>
        </p:txBody>
      </p:sp>
    </p:spTree>
    <p:extLst>
      <p:ext uri="{BB962C8B-B14F-4D97-AF65-F5344CB8AC3E}">
        <p14:creationId xmlns:p14="http://schemas.microsoft.com/office/powerpoint/2010/main" val="323395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EEA8-11B8-B319-E992-23F7535A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1200"/>
            <a:ext cx="9906000" cy="558800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1E3A8A"/>
                </a:solidFill>
              </a:rPr>
              <a:t>Proven at Global Scale, Deployed on Live Mandates</a:t>
            </a:r>
          </a:p>
        </p:txBody>
      </p:sp>
      <p:sp>
        <p:nvSpPr>
          <p:cNvPr id="801" name="T801"/>
          <p:cNvSpPr txBox="1"/>
          <p:nvPr/>
        </p:nvSpPr>
        <p:spPr>
          <a:xfrm>
            <a:off x="838200" y="406400"/>
            <a:ext cx="10515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spc="200" dirty="0">
                <a:solidFill>
                  <a:srgbClr val="3B82F6"/>
                </a:solidFill>
              </a:rPr>
              <a:t>TRACK RECORD</a:t>
            </a:r>
          </a:p>
        </p:txBody>
      </p:sp>
      <p:sp>
        <p:nvSpPr>
          <p:cNvPr id="802" name="T802"/>
          <p:cNvSpPr txBox="1"/>
          <p:nvPr/>
        </p:nvSpPr>
        <p:spPr>
          <a:xfrm>
            <a:off x="838200" y="1270000"/>
            <a:ext cx="1051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600" dirty="0">
                <a:solidFill>
                  <a:srgbClr val="6B7280"/>
                </a:solidFill>
              </a:rPr>
              <a:t>The leadership team’s operating pedigree, proven outcomes — and where it is engaged today.</a:t>
            </a:r>
          </a:p>
        </p:txBody>
      </p:sp>
      <p:sp>
        <p:nvSpPr>
          <p:cNvPr id="803" name="T803"/>
          <p:cNvSpPr txBox="1"/>
          <p:nvPr/>
        </p:nvSpPr>
        <p:spPr>
          <a:xfrm>
            <a:off x="838200" y="1676400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spc="150" dirty="0">
                <a:solidFill>
                  <a:srgbClr val="3B82F6"/>
                </a:solidFill>
              </a:rPr>
              <a:t>WHERE WE’VE LED</a:t>
            </a:r>
          </a:p>
        </p:txBody>
      </p:sp>
      <p:sp>
        <p:nvSpPr>
          <p:cNvPr id="804" name="R804"/>
          <p:cNvSpPr/>
          <p:nvPr/>
        </p:nvSpPr>
        <p:spPr>
          <a:xfrm>
            <a:off x="838200" y="1955800"/>
            <a:ext cx="2514600" cy="406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5" name="R805"/>
          <p:cNvSpPr/>
          <p:nvPr/>
        </p:nvSpPr>
        <p:spPr>
          <a:xfrm>
            <a:off x="838200" y="1955800"/>
            <a:ext cx="50800" cy="406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6" name="T806"/>
          <p:cNvSpPr txBox="1"/>
          <p:nvPr/>
        </p:nvSpPr>
        <p:spPr>
          <a:xfrm>
            <a:off x="1041400" y="20447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Cognizant</a:t>
            </a:r>
          </a:p>
        </p:txBody>
      </p:sp>
      <p:sp>
        <p:nvSpPr>
          <p:cNvPr id="807" name="R807"/>
          <p:cNvSpPr/>
          <p:nvPr/>
        </p:nvSpPr>
        <p:spPr>
          <a:xfrm>
            <a:off x="3505200" y="1955800"/>
            <a:ext cx="2514600" cy="406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8" name="R808"/>
          <p:cNvSpPr/>
          <p:nvPr/>
        </p:nvSpPr>
        <p:spPr>
          <a:xfrm>
            <a:off x="3505200" y="1955800"/>
            <a:ext cx="50800" cy="406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9" name="T809"/>
          <p:cNvSpPr txBox="1"/>
          <p:nvPr/>
        </p:nvSpPr>
        <p:spPr>
          <a:xfrm>
            <a:off x="3708400" y="20447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Shell</a:t>
            </a:r>
          </a:p>
        </p:txBody>
      </p:sp>
      <p:sp>
        <p:nvSpPr>
          <p:cNvPr id="810" name="R810"/>
          <p:cNvSpPr/>
          <p:nvPr/>
        </p:nvSpPr>
        <p:spPr>
          <a:xfrm>
            <a:off x="6172200" y="1955800"/>
            <a:ext cx="2514600" cy="406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1" name="R811"/>
          <p:cNvSpPr/>
          <p:nvPr/>
        </p:nvSpPr>
        <p:spPr>
          <a:xfrm>
            <a:off x="6172200" y="1955800"/>
            <a:ext cx="50800" cy="406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2" name="T812"/>
          <p:cNvSpPr txBox="1"/>
          <p:nvPr/>
        </p:nvSpPr>
        <p:spPr>
          <a:xfrm>
            <a:off x="6375400" y="20447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Standard Chartered</a:t>
            </a:r>
          </a:p>
        </p:txBody>
      </p:sp>
      <p:sp>
        <p:nvSpPr>
          <p:cNvPr id="813" name="R813"/>
          <p:cNvSpPr/>
          <p:nvPr/>
        </p:nvSpPr>
        <p:spPr>
          <a:xfrm>
            <a:off x="8839200" y="1955800"/>
            <a:ext cx="2514600" cy="406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4" name="R814"/>
          <p:cNvSpPr/>
          <p:nvPr/>
        </p:nvSpPr>
        <p:spPr>
          <a:xfrm>
            <a:off x="8839200" y="1955800"/>
            <a:ext cx="50800" cy="406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5" name="T815"/>
          <p:cNvSpPr txBox="1"/>
          <p:nvPr/>
        </p:nvSpPr>
        <p:spPr>
          <a:xfrm>
            <a:off x="9042400" y="20447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Maersk</a:t>
            </a:r>
          </a:p>
        </p:txBody>
      </p:sp>
      <p:sp>
        <p:nvSpPr>
          <p:cNvPr id="816" name="R816"/>
          <p:cNvSpPr/>
          <p:nvPr/>
        </p:nvSpPr>
        <p:spPr>
          <a:xfrm>
            <a:off x="838200" y="2438400"/>
            <a:ext cx="2514600" cy="406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7" name="R817"/>
          <p:cNvSpPr/>
          <p:nvPr/>
        </p:nvSpPr>
        <p:spPr>
          <a:xfrm>
            <a:off x="838200" y="2438400"/>
            <a:ext cx="50800" cy="406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8" name="T818"/>
          <p:cNvSpPr txBox="1"/>
          <p:nvPr/>
        </p:nvSpPr>
        <p:spPr>
          <a:xfrm>
            <a:off x="1041400" y="25273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Agility</a:t>
            </a:r>
          </a:p>
        </p:txBody>
      </p:sp>
      <p:sp>
        <p:nvSpPr>
          <p:cNvPr id="819" name="R819"/>
          <p:cNvSpPr/>
          <p:nvPr/>
        </p:nvSpPr>
        <p:spPr>
          <a:xfrm>
            <a:off x="3505200" y="2438400"/>
            <a:ext cx="2514600" cy="406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0" name="R820"/>
          <p:cNvSpPr/>
          <p:nvPr/>
        </p:nvSpPr>
        <p:spPr>
          <a:xfrm>
            <a:off x="3505200" y="2438400"/>
            <a:ext cx="50800" cy="406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1" name="T821"/>
          <p:cNvSpPr txBox="1"/>
          <p:nvPr/>
        </p:nvSpPr>
        <p:spPr>
          <a:xfrm>
            <a:off x="3708400" y="25273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Genpact</a:t>
            </a:r>
          </a:p>
        </p:txBody>
      </p:sp>
      <p:sp>
        <p:nvSpPr>
          <p:cNvPr id="822" name="R822"/>
          <p:cNvSpPr/>
          <p:nvPr/>
        </p:nvSpPr>
        <p:spPr>
          <a:xfrm>
            <a:off x="6172200" y="2438400"/>
            <a:ext cx="2514600" cy="406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3" name="R823"/>
          <p:cNvSpPr/>
          <p:nvPr/>
        </p:nvSpPr>
        <p:spPr>
          <a:xfrm>
            <a:off x="6172200" y="2438400"/>
            <a:ext cx="50800" cy="406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4" name="T824"/>
          <p:cNvSpPr txBox="1"/>
          <p:nvPr/>
        </p:nvSpPr>
        <p:spPr>
          <a:xfrm>
            <a:off x="6375400" y="25273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Philips</a:t>
            </a:r>
          </a:p>
        </p:txBody>
      </p:sp>
      <p:sp>
        <p:nvSpPr>
          <p:cNvPr id="825" name="R825"/>
          <p:cNvSpPr/>
          <p:nvPr/>
        </p:nvSpPr>
        <p:spPr>
          <a:xfrm>
            <a:off x="8839200" y="2438400"/>
            <a:ext cx="2514600" cy="406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6" name="R826"/>
          <p:cNvSpPr/>
          <p:nvPr/>
        </p:nvSpPr>
        <p:spPr>
          <a:xfrm>
            <a:off x="8839200" y="2438400"/>
            <a:ext cx="50800" cy="406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7" name="T827"/>
          <p:cNvSpPr txBox="1"/>
          <p:nvPr/>
        </p:nvSpPr>
        <p:spPr>
          <a:xfrm>
            <a:off x="9042400" y="25273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Accenture</a:t>
            </a:r>
          </a:p>
        </p:txBody>
      </p:sp>
      <p:sp>
        <p:nvSpPr>
          <p:cNvPr id="828" name="T828"/>
          <p:cNvSpPr txBox="1"/>
          <p:nvPr/>
        </p:nvSpPr>
        <p:spPr>
          <a:xfrm>
            <a:off x="838200" y="3098800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spc="150" dirty="0">
                <a:solidFill>
                  <a:srgbClr val="3B82F6"/>
                </a:solidFill>
              </a:rPr>
              <a:t>PROVEN OUTCOMES</a:t>
            </a:r>
          </a:p>
        </p:txBody>
      </p:sp>
      <p:sp>
        <p:nvSpPr>
          <p:cNvPr id="829" name="R829"/>
          <p:cNvSpPr/>
          <p:nvPr/>
        </p:nvSpPr>
        <p:spPr>
          <a:xfrm>
            <a:off x="838200" y="3378200"/>
            <a:ext cx="2514600" cy="127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0" name="R830"/>
          <p:cNvSpPr/>
          <p:nvPr/>
        </p:nvSpPr>
        <p:spPr>
          <a:xfrm>
            <a:off x="838200" y="3378200"/>
            <a:ext cx="2514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1" name="T831"/>
          <p:cNvSpPr txBox="1"/>
          <p:nvPr/>
        </p:nvSpPr>
        <p:spPr>
          <a:xfrm>
            <a:off x="1041400" y="3530600"/>
            <a:ext cx="210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Transformation Delivery</a:t>
            </a:r>
          </a:p>
        </p:txBody>
      </p:sp>
      <p:sp>
        <p:nvSpPr>
          <p:cNvPr id="832" name="T832"/>
          <p:cNvSpPr txBox="1"/>
          <p:nvPr/>
        </p:nvSpPr>
        <p:spPr>
          <a:xfrm>
            <a:off x="1041400" y="3810000"/>
            <a:ext cx="2108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Turned around shared-services performance and engagement scores.</a:t>
            </a:r>
          </a:p>
        </p:txBody>
      </p:sp>
      <p:sp>
        <p:nvSpPr>
          <p:cNvPr id="833" name="R833"/>
          <p:cNvSpPr/>
          <p:nvPr/>
        </p:nvSpPr>
        <p:spPr>
          <a:xfrm>
            <a:off x="3505200" y="3378200"/>
            <a:ext cx="2514600" cy="127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4" name="R834"/>
          <p:cNvSpPr/>
          <p:nvPr/>
        </p:nvSpPr>
        <p:spPr>
          <a:xfrm>
            <a:off x="3505200" y="3378200"/>
            <a:ext cx="2514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5" name="T835"/>
          <p:cNvSpPr txBox="1"/>
          <p:nvPr/>
        </p:nvSpPr>
        <p:spPr>
          <a:xfrm>
            <a:off x="3708400" y="3530600"/>
            <a:ext cx="210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Cost Optimisation</a:t>
            </a:r>
          </a:p>
        </p:txBody>
      </p:sp>
      <p:sp>
        <p:nvSpPr>
          <p:cNvPr id="836" name="T836"/>
          <p:cNvSpPr txBox="1"/>
          <p:nvPr/>
        </p:nvSpPr>
        <p:spPr>
          <a:xfrm>
            <a:off x="3708400" y="3810000"/>
            <a:ext cx="2108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Delivered strong cost goals via re-engineering and continuous improvement.</a:t>
            </a:r>
          </a:p>
        </p:txBody>
      </p:sp>
      <p:sp>
        <p:nvSpPr>
          <p:cNvPr id="837" name="R837"/>
          <p:cNvSpPr/>
          <p:nvPr/>
        </p:nvSpPr>
        <p:spPr>
          <a:xfrm>
            <a:off x="6172200" y="3378200"/>
            <a:ext cx="2514600" cy="127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8" name="R838"/>
          <p:cNvSpPr/>
          <p:nvPr/>
        </p:nvSpPr>
        <p:spPr>
          <a:xfrm>
            <a:off x="6172200" y="3378200"/>
            <a:ext cx="2514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9" name="T839"/>
          <p:cNvSpPr txBox="1"/>
          <p:nvPr/>
        </p:nvSpPr>
        <p:spPr>
          <a:xfrm>
            <a:off x="6375400" y="3530600"/>
            <a:ext cx="210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Talent Development</a:t>
            </a:r>
          </a:p>
        </p:txBody>
      </p:sp>
      <p:sp>
        <p:nvSpPr>
          <p:cNvPr id="840" name="T840"/>
          <p:cNvSpPr txBox="1"/>
          <p:nvPr/>
        </p:nvSpPr>
        <p:spPr>
          <a:xfrm>
            <a:off x="6375400" y="3810000"/>
            <a:ext cx="2108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Built knowledge base and career paths across global operations.</a:t>
            </a:r>
          </a:p>
        </p:txBody>
      </p:sp>
      <p:sp>
        <p:nvSpPr>
          <p:cNvPr id="841" name="R841"/>
          <p:cNvSpPr/>
          <p:nvPr/>
        </p:nvSpPr>
        <p:spPr>
          <a:xfrm>
            <a:off x="8839200" y="3378200"/>
            <a:ext cx="2514600" cy="127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2" name="R842"/>
          <p:cNvSpPr/>
          <p:nvPr/>
        </p:nvSpPr>
        <p:spPr>
          <a:xfrm>
            <a:off x="8839200" y="3378200"/>
            <a:ext cx="2514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3" name="T843"/>
          <p:cNvSpPr txBox="1"/>
          <p:nvPr/>
        </p:nvSpPr>
        <p:spPr>
          <a:xfrm>
            <a:off x="9042400" y="3530600"/>
            <a:ext cx="210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E3A8A"/>
                </a:solidFill>
              </a:rPr>
              <a:t>Stakeholder Value</a:t>
            </a:r>
          </a:p>
        </p:txBody>
      </p:sp>
      <p:sp>
        <p:nvSpPr>
          <p:cNvPr id="844" name="T844"/>
          <p:cNvSpPr txBox="1"/>
          <p:nvPr/>
        </p:nvSpPr>
        <p:spPr>
          <a:xfrm>
            <a:off x="9042400" y="3810000"/>
            <a:ext cx="2108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Moved shared services from transactional to value-add partner.</a:t>
            </a:r>
          </a:p>
        </p:txBody>
      </p:sp>
      <p:sp>
        <p:nvSpPr>
          <p:cNvPr id="845" name="T845"/>
          <p:cNvSpPr txBox="1"/>
          <p:nvPr/>
        </p:nvSpPr>
        <p:spPr>
          <a:xfrm>
            <a:off x="838200" y="4851400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spc="150" dirty="0">
                <a:solidFill>
                  <a:srgbClr val="3B82F6"/>
                </a:solidFill>
              </a:rPr>
              <a:t>CURRENT MANDATES</a:t>
            </a:r>
          </a:p>
        </p:txBody>
      </p:sp>
      <p:sp>
        <p:nvSpPr>
          <p:cNvPr id="846" name="R846"/>
          <p:cNvSpPr/>
          <p:nvPr/>
        </p:nvSpPr>
        <p:spPr>
          <a:xfrm>
            <a:off x="838200" y="5130800"/>
            <a:ext cx="2514600" cy="863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7" name="R847"/>
          <p:cNvSpPr/>
          <p:nvPr/>
        </p:nvSpPr>
        <p:spPr>
          <a:xfrm>
            <a:off x="838200" y="5130800"/>
            <a:ext cx="50800" cy="863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8" name="T848"/>
          <p:cNvSpPr txBox="1"/>
          <p:nvPr/>
        </p:nvSpPr>
        <p:spPr>
          <a:xfrm>
            <a:off x="1041400" y="52578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spc="60" dirty="0">
                <a:solidFill>
                  <a:srgbClr val="1E40AF"/>
                </a:solidFill>
              </a:rPr>
              <a:t>CFO MANDATE</a:t>
            </a:r>
          </a:p>
        </p:txBody>
      </p:sp>
      <p:sp>
        <p:nvSpPr>
          <p:cNvPr id="849" name="T849"/>
          <p:cNvSpPr txBox="1"/>
          <p:nvPr/>
        </p:nvSpPr>
        <p:spPr>
          <a:xfrm>
            <a:off x="1041400" y="5537200"/>
            <a:ext cx="2209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3A8A"/>
                </a:solidFill>
              </a:rPr>
              <a:t>Technology — Data Masking</a:t>
            </a:r>
          </a:p>
        </p:txBody>
      </p:sp>
      <p:sp>
        <p:nvSpPr>
          <p:cNvPr id="850" name="R850"/>
          <p:cNvSpPr/>
          <p:nvPr/>
        </p:nvSpPr>
        <p:spPr>
          <a:xfrm>
            <a:off x="3505200" y="5130800"/>
            <a:ext cx="2514600" cy="863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1" name="R851"/>
          <p:cNvSpPr/>
          <p:nvPr/>
        </p:nvSpPr>
        <p:spPr>
          <a:xfrm>
            <a:off x="3505200" y="5130800"/>
            <a:ext cx="50800" cy="863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2" name="T852"/>
          <p:cNvSpPr txBox="1"/>
          <p:nvPr/>
        </p:nvSpPr>
        <p:spPr>
          <a:xfrm>
            <a:off x="3708400" y="52578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spc="60" dirty="0">
                <a:solidFill>
                  <a:srgbClr val="1E40AF"/>
                </a:solidFill>
              </a:rPr>
              <a:t>CFO MANDATE</a:t>
            </a:r>
          </a:p>
        </p:txBody>
      </p:sp>
      <p:sp>
        <p:nvSpPr>
          <p:cNvPr id="853" name="T853"/>
          <p:cNvSpPr txBox="1"/>
          <p:nvPr/>
        </p:nvSpPr>
        <p:spPr>
          <a:xfrm>
            <a:off x="3708400" y="5537200"/>
            <a:ext cx="2209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3A8A"/>
                </a:solidFill>
              </a:rPr>
              <a:t>Technology — Data &amp; Analytics</a:t>
            </a:r>
          </a:p>
        </p:txBody>
      </p:sp>
      <p:sp>
        <p:nvSpPr>
          <p:cNvPr id="854" name="R854"/>
          <p:cNvSpPr/>
          <p:nvPr/>
        </p:nvSpPr>
        <p:spPr>
          <a:xfrm>
            <a:off x="6172200" y="5130800"/>
            <a:ext cx="2514600" cy="863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5" name="R855"/>
          <p:cNvSpPr/>
          <p:nvPr/>
        </p:nvSpPr>
        <p:spPr>
          <a:xfrm>
            <a:off x="6172200" y="5130800"/>
            <a:ext cx="50800" cy="863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6" name="T856"/>
          <p:cNvSpPr txBox="1"/>
          <p:nvPr/>
        </p:nvSpPr>
        <p:spPr>
          <a:xfrm>
            <a:off x="6375400" y="52578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spc="60" dirty="0">
                <a:solidFill>
                  <a:srgbClr val="1E40AF"/>
                </a:solidFill>
              </a:rPr>
              <a:t>CFO MANDATE</a:t>
            </a:r>
          </a:p>
        </p:txBody>
      </p:sp>
      <p:sp>
        <p:nvSpPr>
          <p:cNvPr id="857" name="T857"/>
          <p:cNvSpPr txBox="1"/>
          <p:nvPr/>
        </p:nvSpPr>
        <p:spPr>
          <a:xfrm>
            <a:off x="6375400" y="5537200"/>
            <a:ext cx="2209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3A8A"/>
                </a:solidFill>
              </a:rPr>
              <a:t>SaaS Product — Logistics</a:t>
            </a:r>
          </a:p>
        </p:txBody>
      </p:sp>
      <p:sp>
        <p:nvSpPr>
          <p:cNvPr id="858" name="R858"/>
          <p:cNvSpPr/>
          <p:nvPr/>
        </p:nvSpPr>
        <p:spPr>
          <a:xfrm>
            <a:off x="8839200" y="5130800"/>
            <a:ext cx="2514600" cy="863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9" name="R859"/>
          <p:cNvSpPr/>
          <p:nvPr/>
        </p:nvSpPr>
        <p:spPr>
          <a:xfrm>
            <a:off x="8839200" y="5130800"/>
            <a:ext cx="50800" cy="863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60" name="T860"/>
          <p:cNvSpPr txBox="1"/>
          <p:nvPr/>
        </p:nvSpPr>
        <p:spPr>
          <a:xfrm>
            <a:off x="9042400" y="52578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400" b="1" spc="60" dirty="0">
                <a:solidFill>
                  <a:srgbClr val="0F766E"/>
                </a:solidFill>
              </a:rPr>
              <a:t>TRANSFORMATION</a:t>
            </a:r>
          </a:p>
        </p:txBody>
      </p:sp>
      <p:sp>
        <p:nvSpPr>
          <p:cNvPr id="861" name="T861"/>
          <p:cNvSpPr txBox="1"/>
          <p:nvPr/>
        </p:nvSpPr>
        <p:spPr>
          <a:xfrm>
            <a:off x="9042400" y="5537200"/>
            <a:ext cx="2209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3A8A"/>
                </a:solidFill>
              </a:rPr>
              <a:t>Digital Marketing</a:t>
            </a:r>
          </a:p>
        </p:txBody>
      </p:sp>
      <p:sp>
        <p:nvSpPr>
          <p:cNvPr id="862" name="T862"/>
          <p:cNvSpPr txBox="1"/>
          <p:nvPr/>
        </p:nvSpPr>
        <p:spPr>
          <a:xfrm>
            <a:off x="838200" y="6096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400" i="1" dirty="0">
                <a:solidFill>
                  <a:srgbClr val="4B5563"/>
                </a:solidFill>
              </a:rPr>
              <a:t>“The professionalism and dedication you have shown helped us to finalize the integration with success.”  — EVP Finance, DSV Panalpina</a:t>
            </a:r>
          </a:p>
        </p:txBody>
      </p:sp>
    </p:spTree>
    <p:extLst>
      <p:ext uri="{BB962C8B-B14F-4D97-AF65-F5344CB8AC3E}">
        <p14:creationId xmlns:p14="http://schemas.microsoft.com/office/powerpoint/2010/main" val="3295451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8362-CC79-187E-5A92-CD1D82A0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1E3A8A"/>
                </a:solidFill>
              </a:rPr>
              <a:t>How We Work Together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838200" y="406400"/>
            <a:ext cx="10515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200" dirty="0">
                <a:solidFill>
                  <a:srgbClr val="3B82F6"/>
                </a:solidFill>
              </a:rPr>
              <a:t>ENGAGEMENT &amp; NEXT STEPS</a:t>
            </a:r>
          </a:p>
        </p:txBody>
      </p:sp>
      <p:sp>
        <p:nvSpPr>
          <p:cNvPr id="102" name="T102"/>
          <p:cNvSpPr txBox="1"/>
          <p:nvPr/>
        </p:nvSpPr>
        <p:spPr>
          <a:xfrm>
            <a:off x="838200" y="1270000"/>
            <a:ext cx="1051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dirty="0">
                <a:solidFill>
                  <a:srgbClr val="6B7280"/>
                </a:solidFill>
              </a:rPr>
              <a:t>Choose the engagement model that fits your stage — every model is partner-led.</a:t>
            </a:r>
          </a:p>
        </p:txBody>
      </p:sp>
      <p:sp>
        <p:nvSpPr>
          <p:cNvPr id="103" name="R103"/>
          <p:cNvSpPr/>
          <p:nvPr/>
        </p:nvSpPr>
        <p:spPr>
          <a:xfrm>
            <a:off x="838200" y="1676400"/>
            <a:ext cx="3327400" cy="218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R104"/>
          <p:cNvSpPr/>
          <p:nvPr/>
        </p:nvSpPr>
        <p:spPr>
          <a:xfrm>
            <a:off x="838200" y="1676400"/>
            <a:ext cx="3327400" cy="635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105"/>
          <p:cNvSpPr txBox="1"/>
          <p:nvPr/>
        </p:nvSpPr>
        <p:spPr>
          <a:xfrm>
            <a:off x="1092200" y="1955800"/>
            <a:ext cx="2819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E3A8A"/>
                </a:solidFill>
              </a:rPr>
              <a:t>FCFO Retainer</a:t>
            </a:r>
          </a:p>
        </p:txBody>
      </p:sp>
      <p:sp>
        <p:nvSpPr>
          <p:cNvPr id="106" name="R106"/>
          <p:cNvSpPr/>
          <p:nvPr/>
        </p:nvSpPr>
        <p:spPr>
          <a:xfrm>
            <a:off x="1092200" y="2387600"/>
            <a:ext cx="457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107"/>
          <p:cNvSpPr txBox="1"/>
          <p:nvPr/>
        </p:nvSpPr>
        <p:spPr>
          <a:xfrm>
            <a:off x="1092200" y="2565400"/>
            <a:ext cx="2819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Ongoing strategic finance leadership on a fractional cadence, with board-ready reporting and full financial oversight.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1092200" y="35052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i="1" dirty="0">
                <a:solidFill>
                  <a:srgbClr val="1E40AF"/>
                </a:solidFill>
              </a:rPr>
              <a:t>Best for scaling enterprises</a:t>
            </a:r>
          </a:p>
        </p:txBody>
      </p:sp>
      <p:sp>
        <p:nvSpPr>
          <p:cNvPr id="109" name="R109"/>
          <p:cNvSpPr/>
          <p:nvPr/>
        </p:nvSpPr>
        <p:spPr>
          <a:xfrm>
            <a:off x="4432300" y="1676400"/>
            <a:ext cx="3327400" cy="218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R110"/>
          <p:cNvSpPr/>
          <p:nvPr/>
        </p:nvSpPr>
        <p:spPr>
          <a:xfrm>
            <a:off x="4432300" y="1676400"/>
            <a:ext cx="3327400" cy="635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T111"/>
          <p:cNvSpPr txBox="1"/>
          <p:nvPr/>
        </p:nvSpPr>
        <p:spPr>
          <a:xfrm>
            <a:off x="4686300" y="1955800"/>
            <a:ext cx="2819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E3A8A"/>
                </a:solidFill>
              </a:rPr>
              <a:t>Programme Delivery</a:t>
            </a:r>
          </a:p>
        </p:txBody>
      </p:sp>
      <p:sp>
        <p:nvSpPr>
          <p:cNvPr id="112" name="R112"/>
          <p:cNvSpPr/>
          <p:nvPr/>
        </p:nvSpPr>
        <p:spPr>
          <a:xfrm>
            <a:off x="4686300" y="2387600"/>
            <a:ext cx="457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113"/>
          <p:cNvSpPr txBox="1"/>
          <p:nvPr/>
        </p:nvSpPr>
        <p:spPr>
          <a:xfrm>
            <a:off x="4686300" y="2565400"/>
            <a:ext cx="2819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Defined-scope change programme with milestones, governance and measurable outcomes owned end to end.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4686300" y="35052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i="1" dirty="0">
                <a:solidFill>
                  <a:srgbClr val="1E40AF"/>
                </a:solidFill>
              </a:rPr>
              <a:t>Best for step-change</a:t>
            </a:r>
          </a:p>
        </p:txBody>
      </p:sp>
      <p:sp>
        <p:nvSpPr>
          <p:cNvPr id="115" name="R115"/>
          <p:cNvSpPr/>
          <p:nvPr/>
        </p:nvSpPr>
        <p:spPr>
          <a:xfrm>
            <a:off x="8026400" y="1676400"/>
            <a:ext cx="3327400" cy="218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R116"/>
          <p:cNvSpPr/>
          <p:nvPr/>
        </p:nvSpPr>
        <p:spPr>
          <a:xfrm>
            <a:off x="8026400" y="1676400"/>
            <a:ext cx="3327400" cy="635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T117"/>
          <p:cNvSpPr txBox="1"/>
          <p:nvPr/>
        </p:nvSpPr>
        <p:spPr>
          <a:xfrm>
            <a:off x="8280400" y="1955800"/>
            <a:ext cx="2819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E3A8A"/>
                </a:solidFill>
              </a:rPr>
              <a:t>Advisory Sprint</a:t>
            </a:r>
          </a:p>
        </p:txBody>
      </p:sp>
      <p:sp>
        <p:nvSpPr>
          <p:cNvPr id="118" name="R118"/>
          <p:cNvSpPr/>
          <p:nvPr/>
        </p:nvSpPr>
        <p:spPr>
          <a:xfrm>
            <a:off x="8280400" y="2387600"/>
            <a:ext cx="457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T119"/>
          <p:cNvSpPr txBox="1"/>
          <p:nvPr/>
        </p:nvSpPr>
        <p:spPr>
          <a:xfrm>
            <a:off x="8280400" y="2565400"/>
            <a:ext cx="2819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Targeted intervention — Program based support, cost and cash review, ERP readiness or a finance function diagnostic.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8280400" y="35052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i="1" dirty="0">
                <a:solidFill>
                  <a:srgbClr val="1E40AF"/>
                </a:solidFill>
              </a:rPr>
              <a:t>Best for focused starts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838200" y="4089400"/>
            <a:ext cx="10515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200" dirty="0">
                <a:solidFill>
                  <a:srgbClr val="3B82F6"/>
                </a:solidFill>
              </a:rPr>
              <a:t>YOUR PATH FORWARD</a:t>
            </a:r>
          </a:p>
        </p:txBody>
      </p:sp>
      <p:sp>
        <p:nvSpPr>
          <p:cNvPr id="122" name="R122"/>
          <p:cNvSpPr/>
          <p:nvPr/>
        </p:nvSpPr>
        <p:spPr>
          <a:xfrm>
            <a:off x="838200" y="4419600"/>
            <a:ext cx="332740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T123"/>
          <p:cNvSpPr txBox="1"/>
          <p:nvPr/>
        </p:nvSpPr>
        <p:spPr>
          <a:xfrm>
            <a:off x="1092200" y="45974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676400" y="4648200"/>
            <a:ext cx="2235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E3A8A"/>
                </a:solidFill>
              </a:rPr>
              <a:t>Discovery Session</a:t>
            </a:r>
          </a:p>
        </p:txBody>
      </p:sp>
      <p:sp>
        <p:nvSpPr>
          <p:cNvPr id="125" name="R125"/>
          <p:cNvSpPr/>
          <p:nvPr/>
        </p:nvSpPr>
        <p:spPr>
          <a:xfrm>
            <a:off x="4432300" y="4419600"/>
            <a:ext cx="332740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T126"/>
          <p:cNvSpPr txBox="1"/>
          <p:nvPr/>
        </p:nvSpPr>
        <p:spPr>
          <a:xfrm>
            <a:off x="4686300" y="45974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270500" y="4648200"/>
            <a:ext cx="2235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E3A8A"/>
                </a:solidFill>
              </a:rPr>
              <a:t>Customised Roadmap</a:t>
            </a:r>
          </a:p>
        </p:txBody>
      </p:sp>
      <p:sp>
        <p:nvSpPr>
          <p:cNvPr id="128" name="R128"/>
          <p:cNvSpPr/>
          <p:nvPr/>
        </p:nvSpPr>
        <p:spPr>
          <a:xfrm>
            <a:off x="8026400" y="4419600"/>
            <a:ext cx="332740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9" name="T129"/>
          <p:cNvSpPr txBox="1"/>
          <p:nvPr/>
        </p:nvSpPr>
        <p:spPr>
          <a:xfrm>
            <a:off x="8280400" y="45974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8864600" y="4648200"/>
            <a:ext cx="2235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E3A8A"/>
                </a:solidFill>
              </a:rPr>
              <a:t>Phased Rollout</a:t>
            </a:r>
          </a:p>
        </p:txBody>
      </p:sp>
      <p:sp>
        <p:nvSpPr>
          <p:cNvPr id="131" name="R131"/>
          <p:cNvSpPr/>
          <p:nvPr/>
        </p:nvSpPr>
        <p:spPr>
          <a:xfrm>
            <a:off x="838200" y="5334000"/>
            <a:ext cx="10515600" cy="965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R132"/>
          <p:cNvSpPr/>
          <p:nvPr/>
        </p:nvSpPr>
        <p:spPr>
          <a:xfrm>
            <a:off x="838200" y="5334000"/>
            <a:ext cx="76200" cy="965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3" name="T133"/>
          <p:cNvSpPr txBox="1"/>
          <p:nvPr/>
        </p:nvSpPr>
        <p:spPr>
          <a:xfrm>
            <a:off x="1168400" y="5461000"/>
            <a:ext cx="4826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700"/>
              </a:lnSpc>
              <a:buNone/>
            </a:pPr>
            <a:r>
              <a:rPr lang="en-US" sz="1400" i="1" dirty="0">
                <a:solidFill>
                  <a:srgbClr val="FFFFFF"/>
                </a:solidFill>
              </a:rPr>
              <a:t>“Key internal stakeholders provided positive feedback on the improvement and expressed their confidence.”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6350000" y="5461000"/>
            <a:ext cx="4749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Rajkumar M  ·  Founder &amp; Managing Partner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6350000" y="5740400"/>
            <a:ext cx="4749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DBEAFE"/>
                </a:solidFill>
              </a:rPr>
              <a:t>+91 98407 64537   ·   +91 93636 34537</a:t>
            </a:r>
          </a:p>
        </p:txBody>
      </p:sp>
      <p:sp>
        <p:nvSpPr>
          <p:cNvPr id="700" name="T700"/>
          <p:cNvSpPr txBox="1"/>
          <p:nvPr/>
        </p:nvSpPr>
        <p:spPr>
          <a:xfrm>
            <a:off x="6350000" y="6019800"/>
            <a:ext cx="474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</a:pPr>
            <a:r>
              <a:rPr lang="en-US" sz="1400" dirty="0">
                <a:solidFill>
                  <a:srgbClr val="DBEAFE"/>
                </a:solidFill>
              </a:rPr>
              <a:t>rajkumar@maathavam.com</a:t>
            </a:r>
          </a:p>
        </p:txBody>
      </p:sp>
      <p:sp>
        <p:nvSpPr>
          <p:cNvPr id="710" name="T710"/>
          <p:cNvSpPr txBox="1"/>
          <p:nvPr/>
        </p:nvSpPr>
        <p:spPr>
          <a:xfrm>
            <a:off x="1168400" y="59690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93C5FD"/>
                </a:solidFill>
              </a:rPr>
              <a:t>— Global CFO, Agility</a:t>
            </a:r>
          </a:p>
        </p:txBody>
      </p:sp>
    </p:spTree>
    <p:extLst>
      <p:ext uri="{BB962C8B-B14F-4D97-AF65-F5344CB8AC3E}">
        <p14:creationId xmlns:p14="http://schemas.microsoft.com/office/powerpoint/2010/main" val="1997428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5033100688]">
  <a:themeElements>
    <a:clrScheme name="Office">
      <a:dk1>
        <a:srgbClr val="111827"/>
      </a:dk1>
      <a:lt1>
        <a:srgbClr val="FFFFFF"/>
      </a:lt1>
      <a:dk2>
        <a:srgbClr val="1E3A8A"/>
      </a:dk2>
      <a:lt2>
        <a:srgbClr val="E5E7EB"/>
      </a:lt2>
      <a:accent1>
        <a:srgbClr val="1E40AF"/>
      </a:accent1>
      <a:accent2>
        <a:srgbClr val="3B82F6"/>
      </a:accent2>
      <a:accent3>
        <a:srgbClr val="60A5FA"/>
      </a:accent3>
      <a:accent4>
        <a:srgbClr val="0F766E"/>
      </a:accent4>
      <a:accent5>
        <a:srgbClr val="4B5563"/>
      </a:accent5>
      <a:accent6>
        <a:srgbClr val="C2410C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464095D-DC6C-48A8-AC2D-452A30A3BF07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88205641-4d2c-413c-98ee-c35f68a29300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DE095B1-A0E5-4FEE-B3A6-57A47CE0AC3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05d5557-1e2b-41ac-94a1-ca8f4b875a7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819</Words>
  <Application>Microsoft Office PowerPoint</Application>
  <PresentationFormat>Widescreen</PresentationFormat>
  <Paragraphs>158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Segoe UI</vt:lpstr>
      <vt:lpstr>Segoe UI Semibold</vt:lpstr>
      <vt:lpstr>Office Theme [1785033100688]</vt:lpstr>
      <vt:lpstr>Strategic Transformation &amp; FCFO Leadership</vt:lpstr>
      <vt:lpstr>What We Do for You &amp; Your Teams’ Success </vt:lpstr>
      <vt:lpstr>Rajkumar Meenakshisundaram</vt:lpstr>
      <vt:lpstr>Led from the Front</vt:lpstr>
      <vt:lpstr>Proven at Global Scale, Deployed on Live Mandates</vt:lpstr>
      <vt:lpstr>How We Work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Maathavam Consulting</dc:creator>
  <cp:lastModifiedBy>Maathavam Consulting</cp:lastModifiedBy>
  <cp:revision>8</cp:revision>
  <dcterms:created xsi:type="dcterms:W3CDTF">2026-07-26T02:21:00Z</dcterms:created>
  <dcterms:modified xsi:type="dcterms:W3CDTF">2026-08-10T13:26:33Z</dcterms:modified>
</cp:coreProperties>
</file>