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athavam Consulting" userId="6ee6a40a0106b3f1" providerId="LiveId" clId="{2D0F2F04-067F-4C37-B828-7D8EE8DC6936}"/>
    <pc:docChg chg="undo custSel modSld">
      <pc:chgData name="Maathavam Consulting" userId="6ee6a40a0106b3f1" providerId="LiveId" clId="{2D0F2F04-067F-4C37-B828-7D8EE8DC6936}" dt="2026-02-13T07:00:34.305" v="37" actId="20577"/>
      <pc:docMkLst>
        <pc:docMk/>
      </pc:docMkLst>
      <pc:sldChg chg="modSp mod">
        <pc:chgData name="Maathavam Consulting" userId="6ee6a40a0106b3f1" providerId="LiveId" clId="{2D0F2F04-067F-4C37-B828-7D8EE8DC6936}" dt="2026-02-13T07:00:34.305" v="37" actId="20577"/>
        <pc:sldMkLst>
          <pc:docMk/>
          <pc:sldMk cId="0" sldId="256"/>
        </pc:sldMkLst>
        <pc:spChg chg="mod">
          <ac:chgData name="Maathavam Consulting" userId="6ee6a40a0106b3f1" providerId="LiveId" clId="{2D0F2F04-067F-4C37-B828-7D8EE8DC6936}" dt="2026-02-13T06:54:32.463" v="34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2-13T07:00:34.305" v="37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2-13T06:54:25.437" v="32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2-13T06:54:15.375" v="31" actId="1076"/>
          <ac:spMkLst>
            <pc:docMk/>
            <pc:sldMk cId="0" sldId="256"/>
            <ac:spMk id="15" creationId="{00000000-0000-0000-0000-000000000000}"/>
          </ac:spMkLst>
        </pc:spChg>
        <pc:picChg chg="mod">
          <ac:chgData name="Maathavam Consulting" userId="6ee6a40a0106b3f1" providerId="LiveId" clId="{2D0F2F04-067F-4C37-B828-7D8EE8DC6936}" dt="2026-02-13T06:54:49.186" v="35" actId="1076"/>
          <ac:picMkLst>
            <pc:docMk/>
            <pc:sldMk cId="0" sldId="256"/>
            <ac:picMk id="12" creationId="{00000000-0000-0000-0000-000000000000}"/>
          </ac:picMkLst>
        </pc:picChg>
        <pc:picChg chg="mod">
          <ac:chgData name="Maathavam Consulting" userId="6ee6a40a0106b3f1" providerId="LiveId" clId="{2D0F2F04-067F-4C37-B828-7D8EE8DC6936}" dt="2026-02-13T06:54:15.375" v="31" actId="1076"/>
          <ac:picMkLst>
            <pc:docMk/>
            <pc:sldMk cId="0" sldId="256"/>
            <ac:picMk id="1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30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14807" y="390449"/>
            <a:ext cx="1714500" cy="1848916"/>
          </a:xfrm>
          <a:prstGeom prst="ellipse">
            <a:avLst/>
          </a:prstGeom>
          <a:solidFill>
            <a:srgbClr val="E5E7EB"/>
          </a:solidFill>
          <a:ln w="50800">
            <a:solidFill>
              <a:srgbClr val="C9A96E"/>
            </a:solidFill>
            <a:prstDash val="solid"/>
          </a:ln>
          <a:effectLst>
            <a:outerShdw blurRad="63500" dist="38100" dir="5400000" algn="bl" rotWithShape="0">
              <a:srgbClr val="0E233E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6402" y="2305202"/>
            <a:ext cx="11239805" cy="1920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b="33203"/>
          <a:stretch/>
        </p:blipFill>
        <p:spPr>
          <a:xfrm>
            <a:off x="606783" y="457200"/>
            <a:ext cx="1601114" cy="16011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381098" y="418795"/>
            <a:ext cx="66394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E23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RAJKUMAR MEENAKSHISUNDARAM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2381098" y="910742"/>
            <a:ext cx="69439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9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CFO | Transformational Leader | Independent Director | Strategic Business Partner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81098" y="1252728"/>
            <a:ext cx="123444" cy="1234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62149" y="1238098"/>
            <a:ext cx="1791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24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+91 9363634537 / 9840764537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52553" y="1261807"/>
            <a:ext cx="123444" cy="1234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66522" y="1238098"/>
            <a:ext cx="26289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24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rajkumar@maathavam.com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465162" y="1252728"/>
            <a:ext cx="123444" cy="1234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646213" y="1238098"/>
            <a:ext cx="16194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24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rajkumar@sumedhas.com</a:t>
            </a:r>
            <a:endParaRPr lang="en-US" sz="900" dirty="0"/>
          </a:p>
        </p:txBody>
      </p:sp>
      <p:sp>
        <p:nvSpPr>
          <p:cNvPr id="17" name="Shape 10"/>
          <p:cNvSpPr/>
          <p:nvPr/>
        </p:nvSpPr>
        <p:spPr>
          <a:xfrm>
            <a:off x="4401007" y="2562149"/>
            <a:ext cx="9144" cy="3838651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1"/>
          <p:cNvSpPr/>
          <p:nvPr/>
        </p:nvSpPr>
        <p:spPr>
          <a:xfrm>
            <a:off x="476402" y="2857500"/>
            <a:ext cx="3733495" cy="28346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 txBox="1"/>
          <p:nvPr/>
        </p:nvSpPr>
        <p:spPr>
          <a:xfrm>
            <a:off x="476402" y="2581351"/>
            <a:ext cx="289133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23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CFO ADVISORY &amp; LEADERSHIP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476402" y="3000146"/>
            <a:ext cx="3733495" cy="3400654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1" name="Shape 14"/>
          <p:cNvSpPr/>
          <p:nvPr/>
        </p:nvSpPr>
        <p:spPr>
          <a:xfrm>
            <a:off x="476402" y="3000146"/>
            <a:ext cx="38405" cy="3400654"/>
          </a:xfrm>
          <a:prstGeom prst="rect">
            <a:avLst/>
          </a:prstGeom>
          <a:solidFill>
            <a:srgbClr val="0E23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 txBox="1"/>
          <p:nvPr/>
        </p:nvSpPr>
        <p:spPr>
          <a:xfrm>
            <a:off x="664769" y="3991812"/>
            <a:ext cx="335859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FCFO roles across MNCs and Indian organizations  supporting Acquisitions, Transformation, Cash flow optimization, Advisory, Organizational restructuring and effectiveness, Compliance, and Business Intelligence—serving senior executives as a sounding board and objective challenger in strategic decision-making</a:t>
            </a: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</a:p>
          <a:p>
            <a:pPr marL="0" indent="0" algn="l">
              <a:buNone/>
            </a:pPr>
            <a:endParaRPr lang="en-US" sz="900" dirty="0">
              <a:solidFill>
                <a:srgbClr val="334155"/>
              </a:solidFill>
              <a:latin typeface="Montserrat" pitchFamily="34" charset="0"/>
            </a:endParaRPr>
          </a:p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4787798" y="2857500"/>
            <a:ext cx="2000707" cy="28346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 txBox="1"/>
          <p:nvPr/>
        </p:nvSpPr>
        <p:spPr>
          <a:xfrm>
            <a:off x="4787798" y="2581351"/>
            <a:ext cx="21296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23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4760478" y="3238805"/>
            <a:ext cx="7030822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02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Transformational finance leader with 29+ years across Consulting, Cognizant, Shell, Standard Chartered, Maersk, and Agility, holding FCA, ICWA, CMA &amp; CFM (US), Six Sigma, Digital Transformation, and Independent Director certifications. </a:t>
            </a:r>
          </a:p>
          <a:p>
            <a:pPr marL="0" indent="0" algn="l">
              <a:buNone/>
            </a:pPr>
            <a:endParaRPr lang="en-US" sz="1100" dirty="0">
              <a:solidFill>
                <a:srgbClr val="1A202C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1A202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Combines strategic vision with execution excellence, serving as trusted FCFO and enabler to CXOs supporting organizational transformation and sustainable growth.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4787798" y="4374947"/>
            <a:ext cx="703082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02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Strategic business partner architect who elevates shared services and finance teams from transactional to value-creating enablers, delivering measurable ROI through cost optimization, automation, and Six Sigma re-engineering.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4760478" y="5010456"/>
            <a:ext cx="703082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02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Turnaround specialist transforming underperforming operations into high-performance teams while navigating complex mergers, including the successful DSV Panalpina-Agility integration. Builds resilient, scalable teams and establishes governance frameworks enabling operational excellence and competitive advantage.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0E23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813B5A3-5884-2E05-2143-B422F12C22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1811" y="415827"/>
            <a:ext cx="1713124" cy="1713124"/>
          </a:xfrm>
          <a:prstGeom prst="rect">
            <a:avLst/>
          </a:prstGeom>
        </p:spPr>
      </p:pic>
      <p:sp>
        <p:nvSpPr>
          <p:cNvPr id="30" name="Text 8">
            <a:extLst>
              <a:ext uri="{FF2B5EF4-FFF2-40B4-BE49-F238E27FC236}">
                <a16:creationId xmlns:a16="http://schemas.microsoft.com/office/drawing/2014/main" id="{5B4820C3-2F41-001A-BC54-318877204E48}"/>
              </a:ext>
            </a:extLst>
          </p:cNvPr>
          <p:cNvSpPr txBox="1"/>
          <p:nvPr/>
        </p:nvSpPr>
        <p:spPr>
          <a:xfrm>
            <a:off x="2562149" y="1549441"/>
            <a:ext cx="5008747" cy="270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0" i="0">
                <a:effectLst/>
                <a:latin typeface="-apple-system"/>
              </a:rPr>
              <a:t>www.linkedin.com/in/rajkumar-meenakshisundaram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C5A5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1500" y="2257654"/>
            <a:ext cx="11048695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71500" y="1067105"/>
            <a:ext cx="64584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CFO BUSINESS LEADERSHIP</a:t>
            </a:r>
            <a:endParaRPr lang="en-US" sz="2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05695" y="400507"/>
            <a:ext cx="1714500" cy="17145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" y="2514600"/>
            <a:ext cx="11048695" cy="54315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71500" y="2514600"/>
            <a:ext cx="57607" cy="543154"/>
          </a:xfrm>
          <a:prstGeom prst="rect">
            <a:avLst/>
          </a:prstGeom>
          <a:solidFill>
            <a:srgbClr val="C5A5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436876" y="2676449"/>
            <a:ext cx="75108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 CREATION | TRANSFORMATION | EXCELLENCE  |  TALENT DEVELOPMENT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52297" y="3395066"/>
            <a:ext cx="3524098" cy="2962656"/>
          </a:xfrm>
          <a:prstGeom prst="roundRect">
            <a:avLst>
              <a:gd name="adj" fmla="val 7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71500" y="3438144"/>
            <a:ext cx="3504895" cy="57607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048256" y="3685946"/>
            <a:ext cx="571500" cy="57150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C5A5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2190902" y="3857854"/>
            <a:ext cx="286207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62151" y="4810964"/>
            <a:ext cx="3143707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Establishes trusted C-suite &amp; stakeholder partnerships through transparent communication, proactive resolution, and strategic initiatives aligned with organizational objectives.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334256" y="3438144"/>
            <a:ext cx="3524098" cy="2962656"/>
          </a:xfrm>
          <a:prstGeom prst="roundRect">
            <a:avLst>
              <a:gd name="adj" fmla="val 7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334256" y="3438144"/>
            <a:ext cx="3504895" cy="57607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810098" y="3685946"/>
            <a:ext cx="571500" cy="57150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C5A5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82005" y="3857854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581144" y="4876394"/>
            <a:ext cx="3143707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Drives digital transformation, process re-engineering, and performance excellence, delivering optimal cost structures while maintaining service quality.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096098" y="3438144"/>
            <a:ext cx="3524098" cy="2962656"/>
          </a:xfrm>
          <a:prstGeom prst="roundRect">
            <a:avLst>
              <a:gd name="adj" fmla="val 7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8096098" y="3438144"/>
            <a:ext cx="3504895" cy="57607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572854" y="3685946"/>
            <a:ext cx="571500" cy="57150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C5A5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9715500" y="3857854"/>
            <a:ext cx="286207" cy="2286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327085" y="4919015"/>
            <a:ext cx="3143707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Builds high-performance teams, implementing competency frameworks that ensure sustainable knowledge transfer and operational continuity and effectiveness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0591797-8B5C-4DA9-91DD-729E468AFD5F}">
  <we:reference id="wa200006000" version="1.2.1.0" store="en-US" storeType="OMEX"/>
  <we:alternateReferences>
    <we:reference id="WA200006000" version="1.2.1.0" store="" storeType="OMEX"/>
  </we:alternateReferences>
  <we:properties>
    <we:property name="document_UID" value="&quot;084eb209-9cc1-4654-b9df-91f695a88af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292</Words>
  <Application>Microsoft Office PowerPoint</Application>
  <PresentationFormat>Widescreen</PresentationFormat>
  <Paragraphs>21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-apple-system</vt:lpstr>
      <vt:lpstr>Arial</vt:lpstr>
      <vt:lpstr>Lora</vt:lpstr>
      <vt:lpstr>Montserrat</vt:lpstr>
      <vt:lpstr>Office Theme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rajkumar meenakshisundaram</cp:lastModifiedBy>
  <cp:revision>2</cp:revision>
  <dcterms:created xsi:type="dcterms:W3CDTF">2026-01-04T13:08:05Z</dcterms:created>
  <dcterms:modified xsi:type="dcterms:W3CDTF">2026-02-13T07:00:40Z</dcterms:modified>
</cp:coreProperties>
</file>